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8" r:id="rId5"/>
    <p:sldId id="332" r:id="rId6"/>
    <p:sldId id="333" r:id="rId7"/>
    <p:sldId id="334" r:id="rId8"/>
    <p:sldId id="335" r:id="rId9"/>
    <p:sldId id="33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7" autoAdjust="0"/>
  </p:normalViewPr>
  <p:slideViewPr>
    <p:cSldViewPr snapToGrid="0">
      <p:cViewPr varScale="1">
        <p:scale>
          <a:sx n="83" d="100"/>
          <a:sy n="83" d="100"/>
        </p:scale>
        <p:origin x="381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1743B1-87D0-4B78-8759-A9AE6A3CCDF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D0D0DB-F29C-4737-8CDB-21913875C396}">
      <dgm:prSet phldrT="[Text]" phldr="0"/>
      <dgm:spPr/>
      <dgm:t>
        <a:bodyPr/>
        <a:lstStyle/>
        <a:p>
          <a:r>
            <a:rPr lang="en-US" b="1" dirty="0"/>
            <a:t>Target selection rationale:</a:t>
          </a:r>
        </a:p>
      </dgm:t>
    </dgm:pt>
    <dgm:pt modelId="{41E2629E-6CDE-4CC2-A8D4-A2642423ADEF}" type="parTrans" cxnId="{1A88D754-D9F1-4361-A617-C14AF5F7F294}">
      <dgm:prSet/>
      <dgm:spPr/>
      <dgm:t>
        <a:bodyPr/>
        <a:lstStyle/>
        <a:p>
          <a:endParaRPr lang="en-US"/>
        </a:p>
      </dgm:t>
    </dgm:pt>
    <dgm:pt modelId="{4241B48E-8E3F-499B-9DAB-E3DF68D20BED}" type="sibTrans" cxnId="{1A88D754-D9F1-4361-A617-C14AF5F7F294}">
      <dgm:prSet/>
      <dgm:spPr/>
      <dgm:t>
        <a:bodyPr/>
        <a:lstStyle/>
        <a:p>
          <a:endParaRPr lang="en-US"/>
        </a:p>
      </dgm:t>
    </dgm:pt>
    <dgm:pt modelId="{74780E44-41B1-4932-8D46-357655CBFA25}">
      <dgm:prSet phldrT="[Text]"/>
      <dgm:spPr/>
      <dgm:t>
        <a:bodyPr/>
        <a:lstStyle/>
        <a:p>
          <a:pPr>
            <a:buNone/>
          </a:pPr>
          <a:r>
            <a:rPr lang="en-US" b="1" dirty="0"/>
            <a:t>10-K Filing Evidence (FY2026):</a:t>
          </a:r>
          <a:endParaRPr lang="en-US" dirty="0"/>
        </a:p>
      </dgm:t>
    </dgm:pt>
    <dgm:pt modelId="{42B4027C-D603-4C68-94A0-74E607EE5CED}" type="parTrans" cxnId="{7A5BEF51-E42B-40FF-81F5-B128809C2C77}">
      <dgm:prSet/>
      <dgm:spPr/>
      <dgm:t>
        <a:bodyPr/>
        <a:lstStyle/>
        <a:p>
          <a:endParaRPr lang="en-US"/>
        </a:p>
      </dgm:t>
    </dgm:pt>
    <dgm:pt modelId="{3EDDD62A-B8E6-4F9F-9931-30CC9B41EBE6}" type="sibTrans" cxnId="{7A5BEF51-E42B-40FF-81F5-B128809C2C77}">
      <dgm:prSet/>
      <dgm:spPr/>
      <dgm:t>
        <a:bodyPr/>
        <a:lstStyle/>
        <a:p>
          <a:endParaRPr lang="en-US"/>
        </a:p>
      </dgm:t>
    </dgm:pt>
    <dgm:pt modelId="{405BE4DA-7CFE-4B70-8FB2-E70F7D89F718}">
      <dgm:prSet phldrT="[Text]"/>
      <dgm:spPr/>
      <dgm:t>
        <a:bodyPr/>
        <a:lstStyle/>
        <a:p>
          <a:pPr>
            <a:buNone/>
          </a:pPr>
          <a:r>
            <a:rPr lang="en-US" b="0" dirty="0"/>
            <a:t>Segment Revenue: Compute &amp; Networking generated $193,479M out of $215,938M total revenue (~90% of total revenue), up 67% YoY</a:t>
          </a:r>
        </a:p>
      </dgm:t>
    </dgm:pt>
    <dgm:pt modelId="{71E26051-709B-455E-85C5-CAA307B419CB}" type="parTrans" cxnId="{759DF631-F921-4E0C-A882-FAF082029009}">
      <dgm:prSet/>
      <dgm:spPr/>
      <dgm:t>
        <a:bodyPr/>
        <a:lstStyle/>
        <a:p>
          <a:endParaRPr lang="en-US"/>
        </a:p>
      </dgm:t>
    </dgm:pt>
    <dgm:pt modelId="{B33573B7-87C8-4E77-BC90-F66F519C0B7F}" type="sibTrans" cxnId="{759DF631-F921-4E0C-A882-FAF082029009}">
      <dgm:prSet/>
      <dgm:spPr/>
      <dgm:t>
        <a:bodyPr/>
        <a:lstStyle/>
        <a:p>
          <a:endParaRPr lang="en-US"/>
        </a:p>
      </dgm:t>
    </dgm:pt>
    <dgm:pt modelId="{79B6DEB8-3DF7-42C4-B4DE-0211FC188340}">
      <dgm:prSet phldrT="[Text]" phldr="0"/>
      <dgm:spPr/>
      <dgm:t>
        <a:bodyPr/>
        <a:lstStyle/>
        <a:p>
          <a:pPr>
            <a:buNone/>
          </a:pPr>
          <a:r>
            <a:rPr lang="en-US" dirty="0"/>
            <a:t>Durability of data center AI infrastructure spend is the single most consequential driver of enterprise value</a:t>
          </a:r>
        </a:p>
      </dgm:t>
    </dgm:pt>
    <dgm:pt modelId="{B046143E-6811-4187-8E47-130A895ECE0D}" type="parTrans" cxnId="{D6A8D214-CFBB-4556-A4A7-B6C635B9BCF4}">
      <dgm:prSet/>
      <dgm:spPr/>
      <dgm:t>
        <a:bodyPr/>
        <a:lstStyle/>
        <a:p>
          <a:endParaRPr lang="en-US"/>
        </a:p>
      </dgm:t>
    </dgm:pt>
    <dgm:pt modelId="{FE66AF34-989B-46E7-BEB6-1C89F5AC6465}" type="sibTrans" cxnId="{D6A8D214-CFBB-4556-A4A7-B6C635B9BCF4}">
      <dgm:prSet/>
      <dgm:spPr/>
      <dgm:t>
        <a:bodyPr/>
        <a:lstStyle/>
        <a:p>
          <a:endParaRPr lang="en-US"/>
        </a:p>
      </dgm:t>
    </dgm:pt>
    <dgm:pt modelId="{17F53307-C2CD-49E0-88E2-2F0D2107ADA9}">
      <dgm:prSet phldrT="[Text]" custT="1"/>
      <dgm:spPr/>
      <dgm:t>
        <a:bodyPr/>
        <a:lstStyle/>
        <a:p>
          <a:pPr>
            <a:buNone/>
          </a:pPr>
          <a:r>
            <a:rPr lang="en-US" sz="1800" b="1" dirty="0"/>
            <a:t>Opening Balance Sheet Reconciled:</a:t>
          </a:r>
          <a:endParaRPr lang="en-US" sz="1800" dirty="0"/>
        </a:p>
      </dgm:t>
    </dgm:pt>
    <dgm:pt modelId="{48655D1B-5F40-4644-BB6C-8ECC8FB24F4A}" type="parTrans" cxnId="{70511CFD-CF6C-493E-860E-FD2D8778F5FC}">
      <dgm:prSet/>
      <dgm:spPr/>
      <dgm:t>
        <a:bodyPr/>
        <a:lstStyle/>
        <a:p>
          <a:endParaRPr lang="en-US"/>
        </a:p>
      </dgm:t>
    </dgm:pt>
    <dgm:pt modelId="{E565C480-A095-4E06-ABE2-A8B430C9F015}" type="sibTrans" cxnId="{70511CFD-CF6C-493E-860E-FD2D8778F5FC}">
      <dgm:prSet/>
      <dgm:spPr/>
      <dgm:t>
        <a:bodyPr/>
        <a:lstStyle/>
        <a:p>
          <a:endParaRPr lang="en-US"/>
        </a:p>
      </dgm:t>
    </dgm:pt>
    <dgm:pt modelId="{C27B08C1-5F6C-430A-B2F5-419DF2E4D27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dirty="0"/>
            <a:t>Assets: $206,803M (Cash: $10,605M, Inventory: $21,403M, Net PP&amp;E: $10,383M)</a:t>
          </a:r>
        </a:p>
      </dgm:t>
    </dgm:pt>
    <dgm:pt modelId="{A34EB27B-2A29-484F-9951-8AE81F62F87B}" type="parTrans" cxnId="{ABE17C0B-86A2-4190-84F6-0E9A4A00E094}">
      <dgm:prSet/>
      <dgm:spPr/>
      <dgm:t>
        <a:bodyPr/>
        <a:lstStyle/>
        <a:p>
          <a:endParaRPr lang="en-US"/>
        </a:p>
      </dgm:t>
    </dgm:pt>
    <dgm:pt modelId="{EC10AF31-84F4-4A2D-B016-D311036AE239}" type="sibTrans" cxnId="{ABE17C0B-86A2-4190-84F6-0E9A4A00E094}">
      <dgm:prSet/>
      <dgm:spPr/>
      <dgm:t>
        <a:bodyPr/>
        <a:lstStyle/>
        <a:p>
          <a:endParaRPr lang="en-US"/>
        </a:p>
      </dgm:t>
    </dgm:pt>
    <dgm:pt modelId="{06B810FE-45F9-4291-B796-977C6170AA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dirty="0"/>
            <a:t>Liabilities &amp; Equity: Debt: $8,468M, Equity: $157,293M.</a:t>
          </a:r>
        </a:p>
      </dgm:t>
    </dgm:pt>
    <dgm:pt modelId="{C9688B6C-5897-4A09-9C79-8A9B3622CF2E}" type="parTrans" cxnId="{51BD4218-DED8-46D6-B813-818FB3AEA06E}">
      <dgm:prSet/>
      <dgm:spPr/>
      <dgm:t>
        <a:bodyPr/>
        <a:lstStyle/>
        <a:p>
          <a:endParaRPr lang="en-US"/>
        </a:p>
      </dgm:t>
    </dgm:pt>
    <dgm:pt modelId="{FBAAAB33-ED59-4919-83D3-F45490C82883}" type="sibTrans" cxnId="{51BD4218-DED8-46D6-B813-818FB3AEA06E}">
      <dgm:prSet/>
      <dgm:spPr/>
      <dgm:t>
        <a:bodyPr/>
        <a:lstStyle/>
        <a:p>
          <a:endParaRPr lang="en-US"/>
        </a:p>
      </dgm:t>
    </dgm:pt>
    <dgm:pt modelId="{26377440-F04C-4FD5-80A7-D7719CCFAD9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1" dirty="0"/>
            <a:t>Zero balance-sheet error: </a:t>
          </a:r>
          <a:r>
            <a:rPr lang="en-US" sz="1200" b="0" i="1" dirty="0" err="1"/>
            <a:t>assert_balanced</a:t>
          </a:r>
          <a:r>
            <a:rPr lang="en-US" sz="1200" b="0" i="1" dirty="0"/>
            <a:t>() confirmed gap = 0.0000</a:t>
          </a:r>
          <a:endParaRPr lang="en-US" sz="1200" b="0" dirty="0"/>
        </a:p>
      </dgm:t>
    </dgm:pt>
    <dgm:pt modelId="{E709A281-9F30-47BE-80FE-CBFD9B7F2693}" type="parTrans" cxnId="{14F1841E-36D4-401C-B28B-81BCFCA8F193}">
      <dgm:prSet/>
      <dgm:spPr/>
      <dgm:t>
        <a:bodyPr/>
        <a:lstStyle/>
        <a:p>
          <a:endParaRPr lang="en-US"/>
        </a:p>
      </dgm:t>
    </dgm:pt>
    <dgm:pt modelId="{B548AB0C-3364-4CDD-BA2B-749AFB7BF25C}" type="sibTrans" cxnId="{14F1841E-36D4-401C-B28B-81BCFCA8F193}">
      <dgm:prSet/>
      <dgm:spPr/>
      <dgm:t>
        <a:bodyPr/>
        <a:lstStyle/>
        <a:p>
          <a:endParaRPr lang="en-US"/>
        </a:p>
      </dgm:t>
    </dgm:pt>
    <dgm:pt modelId="{FCB415D7-E260-481E-8945-B4803B76823A}" type="pres">
      <dgm:prSet presAssocID="{C41743B1-87D0-4B78-8759-A9AE6A3CCDF6}" presName="outerComposite" presStyleCnt="0">
        <dgm:presLayoutVars>
          <dgm:chMax val="5"/>
          <dgm:dir/>
          <dgm:resizeHandles val="exact"/>
        </dgm:presLayoutVars>
      </dgm:prSet>
      <dgm:spPr/>
    </dgm:pt>
    <dgm:pt modelId="{CE696095-43D2-40AB-B1F2-088EA17F5162}" type="pres">
      <dgm:prSet presAssocID="{C41743B1-87D0-4B78-8759-A9AE6A3CCDF6}" presName="dummyMaxCanvas" presStyleCnt="0">
        <dgm:presLayoutVars/>
      </dgm:prSet>
      <dgm:spPr/>
    </dgm:pt>
    <dgm:pt modelId="{2C83891F-3EFE-413C-8D06-5E55DCB81603}" type="pres">
      <dgm:prSet presAssocID="{C41743B1-87D0-4B78-8759-A9AE6A3CCDF6}" presName="ThreeNodes_1" presStyleLbl="node1" presStyleIdx="0" presStyleCnt="3" custLinFactNeighborX="353">
        <dgm:presLayoutVars>
          <dgm:bulletEnabled val="1"/>
        </dgm:presLayoutVars>
      </dgm:prSet>
      <dgm:spPr/>
    </dgm:pt>
    <dgm:pt modelId="{67B4B73A-617B-4FDC-903A-736D9B473EC3}" type="pres">
      <dgm:prSet presAssocID="{C41743B1-87D0-4B78-8759-A9AE6A3CCDF6}" presName="ThreeNodes_2" presStyleLbl="node1" presStyleIdx="1" presStyleCnt="3">
        <dgm:presLayoutVars>
          <dgm:bulletEnabled val="1"/>
        </dgm:presLayoutVars>
      </dgm:prSet>
      <dgm:spPr/>
    </dgm:pt>
    <dgm:pt modelId="{1BD7FAC2-FED6-408C-8628-D0C8F303885F}" type="pres">
      <dgm:prSet presAssocID="{C41743B1-87D0-4B78-8759-A9AE6A3CCDF6}" presName="ThreeNodes_3" presStyleLbl="node1" presStyleIdx="2" presStyleCnt="3">
        <dgm:presLayoutVars>
          <dgm:bulletEnabled val="1"/>
        </dgm:presLayoutVars>
      </dgm:prSet>
      <dgm:spPr/>
    </dgm:pt>
    <dgm:pt modelId="{7A619A7F-23D0-429A-92EC-8B774813405C}" type="pres">
      <dgm:prSet presAssocID="{C41743B1-87D0-4B78-8759-A9AE6A3CCDF6}" presName="ThreeConn_1-2" presStyleLbl="fgAccFollowNode1" presStyleIdx="0" presStyleCnt="2">
        <dgm:presLayoutVars>
          <dgm:bulletEnabled val="1"/>
        </dgm:presLayoutVars>
      </dgm:prSet>
      <dgm:spPr/>
    </dgm:pt>
    <dgm:pt modelId="{AE3B6820-807F-479F-831E-3FF96B2E2834}" type="pres">
      <dgm:prSet presAssocID="{C41743B1-87D0-4B78-8759-A9AE6A3CCDF6}" presName="ThreeConn_2-3" presStyleLbl="fgAccFollowNode1" presStyleIdx="1" presStyleCnt="2">
        <dgm:presLayoutVars>
          <dgm:bulletEnabled val="1"/>
        </dgm:presLayoutVars>
      </dgm:prSet>
      <dgm:spPr/>
    </dgm:pt>
    <dgm:pt modelId="{F24A041C-47F7-492B-952D-D094E978D0B4}" type="pres">
      <dgm:prSet presAssocID="{C41743B1-87D0-4B78-8759-A9AE6A3CCDF6}" presName="ThreeNodes_1_text" presStyleLbl="node1" presStyleIdx="2" presStyleCnt="3">
        <dgm:presLayoutVars>
          <dgm:bulletEnabled val="1"/>
        </dgm:presLayoutVars>
      </dgm:prSet>
      <dgm:spPr/>
    </dgm:pt>
    <dgm:pt modelId="{0487C8D0-43AA-479A-82EF-74536F9BEEEE}" type="pres">
      <dgm:prSet presAssocID="{C41743B1-87D0-4B78-8759-A9AE6A3CCDF6}" presName="ThreeNodes_2_text" presStyleLbl="node1" presStyleIdx="2" presStyleCnt="3">
        <dgm:presLayoutVars>
          <dgm:bulletEnabled val="1"/>
        </dgm:presLayoutVars>
      </dgm:prSet>
      <dgm:spPr/>
    </dgm:pt>
    <dgm:pt modelId="{C7BFBA99-15BB-47D7-9E83-A1AC6CADFB3D}" type="pres">
      <dgm:prSet presAssocID="{C41743B1-87D0-4B78-8759-A9AE6A3CCDF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62A1806-1635-428A-8F2E-11D010B789CF}" type="presOf" srcId="{405BE4DA-7CFE-4B70-8FB2-E70F7D89F718}" destId="{0487C8D0-43AA-479A-82EF-74536F9BEEEE}" srcOrd="1" destOrd="1" presId="urn:microsoft.com/office/officeart/2005/8/layout/vProcess5"/>
    <dgm:cxn modelId="{69EDA20A-1389-49FB-9C00-C7D4707068F8}" type="presOf" srcId="{3EDDD62A-B8E6-4F9F-9931-30CC9B41EBE6}" destId="{AE3B6820-807F-479F-831E-3FF96B2E2834}" srcOrd="0" destOrd="0" presId="urn:microsoft.com/office/officeart/2005/8/layout/vProcess5"/>
    <dgm:cxn modelId="{ABE17C0B-86A2-4190-84F6-0E9A4A00E094}" srcId="{17F53307-C2CD-49E0-88E2-2F0D2107ADA9}" destId="{C27B08C1-5F6C-430A-B2F5-419DF2E4D277}" srcOrd="0" destOrd="0" parTransId="{A34EB27B-2A29-484F-9951-8AE81F62F87B}" sibTransId="{EC10AF31-84F4-4A2D-B016-D311036AE239}"/>
    <dgm:cxn modelId="{5750DF11-53A1-4B3A-B4B8-5706CC49F7BF}" type="presOf" srcId="{79B6DEB8-3DF7-42C4-B4DE-0211FC188340}" destId="{2C83891F-3EFE-413C-8D06-5E55DCB81603}" srcOrd="0" destOrd="1" presId="urn:microsoft.com/office/officeart/2005/8/layout/vProcess5"/>
    <dgm:cxn modelId="{D6A8D214-CFBB-4556-A4A7-B6C635B9BCF4}" srcId="{BCD0D0DB-F29C-4737-8CDB-21913875C396}" destId="{79B6DEB8-3DF7-42C4-B4DE-0211FC188340}" srcOrd="0" destOrd="0" parTransId="{B046143E-6811-4187-8E47-130A895ECE0D}" sibTransId="{FE66AF34-989B-46E7-BEB6-1C89F5AC6465}"/>
    <dgm:cxn modelId="{51BD4218-DED8-46D6-B813-818FB3AEA06E}" srcId="{17F53307-C2CD-49E0-88E2-2F0D2107ADA9}" destId="{06B810FE-45F9-4291-B796-977C6170AA48}" srcOrd="1" destOrd="0" parTransId="{C9688B6C-5897-4A09-9C79-8A9B3622CF2E}" sibTransId="{FBAAAB33-ED59-4919-83D3-F45490C82883}"/>
    <dgm:cxn modelId="{14F1841E-36D4-401C-B28B-81BCFCA8F193}" srcId="{17F53307-C2CD-49E0-88E2-2F0D2107ADA9}" destId="{26377440-F04C-4FD5-80A7-D7719CCFAD9F}" srcOrd="2" destOrd="0" parTransId="{E709A281-9F30-47BE-80FE-CBFD9B7F2693}" sibTransId="{B548AB0C-3364-4CDD-BA2B-749AFB7BF25C}"/>
    <dgm:cxn modelId="{759DF631-F921-4E0C-A882-FAF082029009}" srcId="{74780E44-41B1-4932-8D46-357655CBFA25}" destId="{405BE4DA-7CFE-4B70-8FB2-E70F7D89F718}" srcOrd="0" destOrd="0" parTransId="{71E26051-709B-455E-85C5-CAA307B419CB}" sibTransId="{B33573B7-87C8-4E77-BC90-F66F519C0B7F}"/>
    <dgm:cxn modelId="{9EFD5C4E-4FBC-4DE5-BDB4-AEF27CC10172}" type="presOf" srcId="{06B810FE-45F9-4291-B796-977C6170AA48}" destId="{1BD7FAC2-FED6-408C-8628-D0C8F303885F}" srcOrd="0" destOrd="2" presId="urn:microsoft.com/office/officeart/2005/8/layout/vProcess5"/>
    <dgm:cxn modelId="{7A5BEF51-E42B-40FF-81F5-B128809C2C77}" srcId="{C41743B1-87D0-4B78-8759-A9AE6A3CCDF6}" destId="{74780E44-41B1-4932-8D46-357655CBFA25}" srcOrd="1" destOrd="0" parTransId="{42B4027C-D603-4C68-94A0-74E607EE5CED}" sibTransId="{3EDDD62A-B8E6-4F9F-9931-30CC9B41EBE6}"/>
    <dgm:cxn modelId="{1A88D754-D9F1-4361-A617-C14AF5F7F294}" srcId="{C41743B1-87D0-4B78-8759-A9AE6A3CCDF6}" destId="{BCD0D0DB-F29C-4737-8CDB-21913875C396}" srcOrd="0" destOrd="0" parTransId="{41E2629E-6CDE-4CC2-A8D4-A2642423ADEF}" sibTransId="{4241B48E-8E3F-499B-9DAB-E3DF68D20BED}"/>
    <dgm:cxn modelId="{73820A78-F9D1-4E6D-9DA1-1FD29D3924E4}" type="presOf" srcId="{C41743B1-87D0-4B78-8759-A9AE6A3CCDF6}" destId="{FCB415D7-E260-481E-8945-B4803B76823A}" srcOrd="0" destOrd="0" presId="urn:microsoft.com/office/officeart/2005/8/layout/vProcess5"/>
    <dgm:cxn modelId="{23518458-0DDF-4EF6-9834-12F75C895778}" type="presOf" srcId="{BCD0D0DB-F29C-4737-8CDB-21913875C396}" destId="{2C83891F-3EFE-413C-8D06-5E55DCB81603}" srcOrd="0" destOrd="0" presId="urn:microsoft.com/office/officeart/2005/8/layout/vProcess5"/>
    <dgm:cxn modelId="{D8472C79-2970-416B-931D-D498D6870E72}" type="presOf" srcId="{06B810FE-45F9-4291-B796-977C6170AA48}" destId="{C7BFBA99-15BB-47D7-9E83-A1AC6CADFB3D}" srcOrd="1" destOrd="2" presId="urn:microsoft.com/office/officeart/2005/8/layout/vProcess5"/>
    <dgm:cxn modelId="{808C4779-F6CC-434E-851D-FA8EB2429E69}" type="presOf" srcId="{74780E44-41B1-4932-8D46-357655CBFA25}" destId="{67B4B73A-617B-4FDC-903A-736D9B473EC3}" srcOrd="0" destOrd="0" presId="urn:microsoft.com/office/officeart/2005/8/layout/vProcess5"/>
    <dgm:cxn modelId="{8B3FBC7E-E324-4653-9763-F511F013BD84}" type="presOf" srcId="{17F53307-C2CD-49E0-88E2-2F0D2107ADA9}" destId="{C7BFBA99-15BB-47D7-9E83-A1AC6CADFB3D}" srcOrd="1" destOrd="0" presId="urn:microsoft.com/office/officeart/2005/8/layout/vProcess5"/>
    <dgm:cxn modelId="{5E343B85-5383-4705-80D9-E3EE0DCF3A72}" type="presOf" srcId="{74780E44-41B1-4932-8D46-357655CBFA25}" destId="{0487C8D0-43AA-479A-82EF-74536F9BEEEE}" srcOrd="1" destOrd="0" presId="urn:microsoft.com/office/officeart/2005/8/layout/vProcess5"/>
    <dgm:cxn modelId="{55262C90-9AC3-45E4-8454-9F41D2482AC1}" type="presOf" srcId="{79B6DEB8-3DF7-42C4-B4DE-0211FC188340}" destId="{F24A041C-47F7-492B-952D-D094E978D0B4}" srcOrd="1" destOrd="1" presId="urn:microsoft.com/office/officeart/2005/8/layout/vProcess5"/>
    <dgm:cxn modelId="{6B739A92-3B8C-44CC-8613-7891D864B69D}" type="presOf" srcId="{26377440-F04C-4FD5-80A7-D7719CCFAD9F}" destId="{C7BFBA99-15BB-47D7-9E83-A1AC6CADFB3D}" srcOrd="1" destOrd="3" presId="urn:microsoft.com/office/officeart/2005/8/layout/vProcess5"/>
    <dgm:cxn modelId="{5301E998-2A0F-486B-BAE9-61A125C4C3D1}" type="presOf" srcId="{C27B08C1-5F6C-430A-B2F5-419DF2E4D277}" destId="{C7BFBA99-15BB-47D7-9E83-A1AC6CADFB3D}" srcOrd="1" destOrd="1" presId="urn:microsoft.com/office/officeart/2005/8/layout/vProcess5"/>
    <dgm:cxn modelId="{42D87A9B-A734-4E97-9B74-E1AFBB43ED3F}" type="presOf" srcId="{4241B48E-8E3F-499B-9DAB-E3DF68D20BED}" destId="{7A619A7F-23D0-429A-92EC-8B774813405C}" srcOrd="0" destOrd="0" presId="urn:microsoft.com/office/officeart/2005/8/layout/vProcess5"/>
    <dgm:cxn modelId="{CE86D09F-E57A-4838-B007-959576983DD8}" type="presOf" srcId="{26377440-F04C-4FD5-80A7-D7719CCFAD9F}" destId="{1BD7FAC2-FED6-408C-8628-D0C8F303885F}" srcOrd="0" destOrd="3" presId="urn:microsoft.com/office/officeart/2005/8/layout/vProcess5"/>
    <dgm:cxn modelId="{399F6CD7-529C-43DA-B0F8-AA3771409509}" type="presOf" srcId="{405BE4DA-7CFE-4B70-8FB2-E70F7D89F718}" destId="{67B4B73A-617B-4FDC-903A-736D9B473EC3}" srcOrd="0" destOrd="1" presId="urn:microsoft.com/office/officeart/2005/8/layout/vProcess5"/>
    <dgm:cxn modelId="{934727DB-B0F5-44B4-B818-79F42AF47340}" type="presOf" srcId="{C27B08C1-5F6C-430A-B2F5-419DF2E4D277}" destId="{1BD7FAC2-FED6-408C-8628-D0C8F303885F}" srcOrd="0" destOrd="1" presId="urn:microsoft.com/office/officeart/2005/8/layout/vProcess5"/>
    <dgm:cxn modelId="{0BF1FEDF-843E-44D4-9C6B-FD9A4B6BFA92}" type="presOf" srcId="{BCD0D0DB-F29C-4737-8CDB-21913875C396}" destId="{F24A041C-47F7-492B-952D-D094E978D0B4}" srcOrd="1" destOrd="0" presId="urn:microsoft.com/office/officeart/2005/8/layout/vProcess5"/>
    <dgm:cxn modelId="{0FBAFCEC-09F1-43C4-87F9-9D7AC3E4690B}" type="presOf" srcId="{17F53307-C2CD-49E0-88E2-2F0D2107ADA9}" destId="{1BD7FAC2-FED6-408C-8628-D0C8F303885F}" srcOrd="0" destOrd="0" presId="urn:microsoft.com/office/officeart/2005/8/layout/vProcess5"/>
    <dgm:cxn modelId="{70511CFD-CF6C-493E-860E-FD2D8778F5FC}" srcId="{C41743B1-87D0-4B78-8759-A9AE6A3CCDF6}" destId="{17F53307-C2CD-49E0-88E2-2F0D2107ADA9}" srcOrd="2" destOrd="0" parTransId="{48655D1B-5F40-4644-BB6C-8ECC8FB24F4A}" sibTransId="{E565C480-A095-4E06-ABE2-A8B430C9F015}"/>
    <dgm:cxn modelId="{F1C9EFD8-3B4C-43BD-8742-07808BB24C4E}" type="presParOf" srcId="{FCB415D7-E260-481E-8945-B4803B76823A}" destId="{CE696095-43D2-40AB-B1F2-088EA17F5162}" srcOrd="0" destOrd="0" presId="urn:microsoft.com/office/officeart/2005/8/layout/vProcess5"/>
    <dgm:cxn modelId="{D04B0DF9-B0BD-47D6-9136-0D2C96DF053B}" type="presParOf" srcId="{FCB415D7-E260-481E-8945-B4803B76823A}" destId="{2C83891F-3EFE-413C-8D06-5E55DCB81603}" srcOrd="1" destOrd="0" presId="urn:microsoft.com/office/officeart/2005/8/layout/vProcess5"/>
    <dgm:cxn modelId="{36A48E0A-55DE-4CED-BAA4-B098611837BA}" type="presParOf" srcId="{FCB415D7-E260-481E-8945-B4803B76823A}" destId="{67B4B73A-617B-4FDC-903A-736D9B473EC3}" srcOrd="2" destOrd="0" presId="urn:microsoft.com/office/officeart/2005/8/layout/vProcess5"/>
    <dgm:cxn modelId="{8A537CCA-A41F-4AF8-A8F6-8D546F68530A}" type="presParOf" srcId="{FCB415D7-E260-481E-8945-B4803B76823A}" destId="{1BD7FAC2-FED6-408C-8628-D0C8F303885F}" srcOrd="3" destOrd="0" presId="urn:microsoft.com/office/officeart/2005/8/layout/vProcess5"/>
    <dgm:cxn modelId="{9F87D987-F670-4017-AB5B-AB08664AE38F}" type="presParOf" srcId="{FCB415D7-E260-481E-8945-B4803B76823A}" destId="{7A619A7F-23D0-429A-92EC-8B774813405C}" srcOrd="4" destOrd="0" presId="urn:microsoft.com/office/officeart/2005/8/layout/vProcess5"/>
    <dgm:cxn modelId="{738700EA-8501-4627-833F-C57E820FE748}" type="presParOf" srcId="{FCB415D7-E260-481E-8945-B4803B76823A}" destId="{AE3B6820-807F-479F-831E-3FF96B2E2834}" srcOrd="5" destOrd="0" presId="urn:microsoft.com/office/officeart/2005/8/layout/vProcess5"/>
    <dgm:cxn modelId="{A463BC74-8BA7-4699-A07C-ADBCFFF08279}" type="presParOf" srcId="{FCB415D7-E260-481E-8945-B4803B76823A}" destId="{F24A041C-47F7-492B-952D-D094E978D0B4}" srcOrd="6" destOrd="0" presId="urn:microsoft.com/office/officeart/2005/8/layout/vProcess5"/>
    <dgm:cxn modelId="{4DDE45BF-ED9C-4247-8214-9095CD981889}" type="presParOf" srcId="{FCB415D7-E260-481E-8945-B4803B76823A}" destId="{0487C8D0-43AA-479A-82EF-74536F9BEEEE}" srcOrd="7" destOrd="0" presId="urn:microsoft.com/office/officeart/2005/8/layout/vProcess5"/>
    <dgm:cxn modelId="{E3632D03-8E1A-46CD-8E85-DED36346D109}" type="presParOf" srcId="{FCB415D7-E260-481E-8945-B4803B76823A}" destId="{C7BFBA99-15BB-47D7-9E83-A1AC6CADFB3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3891F-3EFE-413C-8D06-5E55DCB81603}">
      <dsp:nvSpPr>
        <dsp:cNvPr id="0" name=""/>
        <dsp:cNvSpPr/>
      </dsp:nvSpPr>
      <dsp:spPr>
        <a:xfrm>
          <a:off x="17262" y="0"/>
          <a:ext cx="4890134" cy="1644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Target selection rationale: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Durability of data center AI infrastructure spend is the single most consequential driver of enterprise value</a:t>
          </a:r>
        </a:p>
      </dsp:txBody>
      <dsp:txXfrm>
        <a:off x="65427" y="48165"/>
        <a:ext cx="3115621" cy="1548140"/>
      </dsp:txXfrm>
    </dsp:sp>
    <dsp:sp modelId="{67B4B73A-617B-4FDC-903A-736D9B473EC3}">
      <dsp:nvSpPr>
        <dsp:cNvPr id="0" name=""/>
        <dsp:cNvSpPr/>
      </dsp:nvSpPr>
      <dsp:spPr>
        <a:xfrm>
          <a:off x="431482" y="1918549"/>
          <a:ext cx="4890134" cy="1644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10-K Filing Evidence (FY2026):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kern="1200" dirty="0"/>
            <a:t>Segment Revenue: Compute &amp; Networking generated $193,479M out of $215,938M total revenue (~90% of total revenue), up 67% YoY</a:t>
          </a:r>
        </a:p>
      </dsp:txBody>
      <dsp:txXfrm>
        <a:off x="479647" y="1966714"/>
        <a:ext cx="3293415" cy="1548140"/>
      </dsp:txXfrm>
    </dsp:sp>
    <dsp:sp modelId="{1BD7FAC2-FED6-408C-8628-D0C8F303885F}">
      <dsp:nvSpPr>
        <dsp:cNvPr id="0" name=""/>
        <dsp:cNvSpPr/>
      </dsp:nvSpPr>
      <dsp:spPr>
        <a:xfrm>
          <a:off x="862964" y="3837098"/>
          <a:ext cx="4890134" cy="1644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Opening Balance Sheet Reconciled:</a:t>
          </a:r>
          <a:endParaRPr lang="en-US" sz="18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kern="1200" dirty="0"/>
            <a:t>Assets: $206,803M (Cash: $10,605M, Inventory: $21,403M, Net PP&amp;E: $10,383M)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kern="1200" dirty="0"/>
            <a:t>Liabilities &amp; Equity: Debt: $8,468M, Equity: $157,293M.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1" kern="1200" dirty="0"/>
            <a:t>Zero balance-sheet error: </a:t>
          </a:r>
          <a:r>
            <a:rPr lang="en-US" sz="1200" b="0" i="1" kern="1200" dirty="0" err="1"/>
            <a:t>assert_balanced</a:t>
          </a:r>
          <a:r>
            <a:rPr lang="en-US" sz="1200" b="0" i="1" kern="1200" dirty="0"/>
            <a:t>() confirmed gap = 0.0000</a:t>
          </a:r>
          <a:endParaRPr lang="en-US" sz="1200" b="0" kern="1200" dirty="0"/>
        </a:p>
      </dsp:txBody>
      <dsp:txXfrm>
        <a:off x="911129" y="3885263"/>
        <a:ext cx="3293415" cy="1548140"/>
      </dsp:txXfrm>
    </dsp:sp>
    <dsp:sp modelId="{7A619A7F-23D0-429A-92EC-8B774813405C}">
      <dsp:nvSpPr>
        <dsp:cNvPr id="0" name=""/>
        <dsp:cNvSpPr/>
      </dsp:nvSpPr>
      <dsp:spPr>
        <a:xfrm>
          <a:off x="3821228" y="1247056"/>
          <a:ext cx="1068905" cy="106890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061732" y="1247056"/>
        <a:ext cx="587897" cy="804351"/>
      </dsp:txXfrm>
    </dsp:sp>
    <dsp:sp modelId="{AE3B6820-807F-479F-831E-3FF96B2E2834}">
      <dsp:nvSpPr>
        <dsp:cNvPr id="0" name=""/>
        <dsp:cNvSpPr/>
      </dsp:nvSpPr>
      <dsp:spPr>
        <a:xfrm>
          <a:off x="4252710" y="3154642"/>
          <a:ext cx="1068905" cy="106890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493214" y="3154642"/>
        <a:ext cx="587897" cy="8043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962F03-D7DC-CB6C-79F9-6EDB31BEAE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D0420-EBB5-D564-54DE-341AD5F02B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D50C4-F1A5-A448-9E63-11D939CA9B7B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F5A34-0F73-44B8-F88C-ACF0104FF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C5854-4E8A-EB36-303D-1E97CBF232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60AD6-267C-A84D-8EB9-DEB2595DCF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30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818D7-DF4E-4C59-9BBA-548250DAC33A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00A82-9926-4DBA-8BA5-A22EEB8AC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8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79FC-DBB5-54F5-0E07-F7AC6DB9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D8A05-569E-A2F8-0D86-32709FDB7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877FE-3F1A-18A3-AAF4-DCFFEE89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D2FA-921D-1378-1185-AD4ECCC9A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9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9882-D46C-C0DB-28B9-286F5E8DD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4E4E3-9875-E949-D60F-03269AB01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93229-EB6D-9C35-94E0-0BBF70C96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BFC71-C5E8-0FCE-7542-E6758858B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32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E195471-80E6-2173-AB78-E4AE69292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563663" y="856093"/>
            <a:ext cx="9064674" cy="5145815"/>
            <a:chOff x="1400539" y="700853"/>
            <a:chExt cx="9699638" cy="550627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183DD5A-FAA9-3AB5-A277-0BD8F58B7AC9}"/>
                </a:ext>
              </a:extLst>
            </p:cNvPr>
            <p:cNvSpPr/>
            <p:nvPr userDrawn="1"/>
          </p:nvSpPr>
          <p:spPr>
            <a:xfrm>
              <a:off x="1400539" y="700853"/>
              <a:ext cx="5506270" cy="55062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22BF3AA-2377-DDB1-A0FA-B1CEAEC0FCE9}"/>
                </a:ext>
              </a:extLst>
            </p:cNvPr>
            <p:cNvSpPr/>
            <p:nvPr userDrawn="1"/>
          </p:nvSpPr>
          <p:spPr>
            <a:xfrm>
              <a:off x="5593907" y="700853"/>
              <a:ext cx="5506270" cy="5506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324873-CBF5-A3C4-2FED-7A74AB030421}"/>
                </a:ext>
              </a:extLst>
            </p:cNvPr>
            <p:cNvSpPr/>
            <p:nvPr userDrawn="1"/>
          </p:nvSpPr>
          <p:spPr>
            <a:xfrm>
              <a:off x="5593907" y="1672186"/>
              <a:ext cx="1312902" cy="3563605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9"/>
            <a:ext cx="10058397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694945"/>
            <a:ext cx="4297680" cy="5468112"/>
          </a:xfrm>
        </p:spPr>
        <p:txBody>
          <a:bodyPr lIns="0" tIns="0" rIns="0" bIns="0" anchor="t" anchorCtr="0">
            <a:normAutofit/>
          </a:bodyPr>
          <a:lstStyle>
            <a:lvl1pPr marL="457200" indent="-4572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rabicPeriod"/>
              <a:defRPr sz="2400"/>
            </a:lvl1pPr>
            <a:lvl2pPr marL="914400" indent="-4572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lphaLcPeriod"/>
              <a:defRPr sz="2000"/>
            </a:lvl2pPr>
            <a:lvl3pPr marL="12573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rabicParenR"/>
              <a:defRPr sz="1800"/>
            </a:lvl3pPr>
            <a:lvl4pPr marL="17145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lphaLcParenR"/>
              <a:defRPr sz="1600"/>
            </a:lvl4pPr>
            <a:lvl5pPr marL="21717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romanLcPeriod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24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B062180-6901-78B5-8F7B-76665DF8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1" y="-551669"/>
            <a:ext cx="4042479" cy="5145816"/>
          </a:xfrm>
          <a:custGeom>
            <a:avLst/>
            <a:gdLst>
              <a:gd name="connsiteX0" fmla="*/ 0 w 4042479"/>
              <a:gd name="connsiteY0" fmla="*/ 4683197 h 5145816"/>
              <a:gd name="connsiteX1" fmla="*/ 0 w 4042479"/>
              <a:gd name="connsiteY1" fmla="*/ 462619 h 5145816"/>
              <a:gd name="connsiteX2" fmla="*/ 31034 w 4042479"/>
              <a:gd name="connsiteY2" fmla="*/ 439413 h 5145816"/>
              <a:gd name="connsiteX3" fmla="*/ 1469571 w 4042479"/>
              <a:gd name="connsiteY3" fmla="*/ 0 h 5145816"/>
              <a:gd name="connsiteX4" fmla="*/ 4042479 w 4042479"/>
              <a:gd name="connsiteY4" fmla="*/ 2572908 h 5145816"/>
              <a:gd name="connsiteX5" fmla="*/ 1469571 w 4042479"/>
              <a:gd name="connsiteY5" fmla="*/ 5145816 h 5145816"/>
              <a:gd name="connsiteX6" fmla="*/ 31034 w 4042479"/>
              <a:gd name="connsiteY6" fmla="*/ 4706404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2479" h="5145816">
                <a:moveTo>
                  <a:pt x="0" y="4683197"/>
                </a:moveTo>
                <a:lnTo>
                  <a:pt x="0" y="462619"/>
                </a:lnTo>
                <a:lnTo>
                  <a:pt x="31034" y="439413"/>
                </a:lnTo>
                <a:cubicBezTo>
                  <a:pt x="441673" y="161990"/>
                  <a:pt x="936704" y="0"/>
                  <a:pt x="1469571" y="0"/>
                </a:cubicBezTo>
                <a:cubicBezTo>
                  <a:pt x="2890549" y="0"/>
                  <a:pt x="4042479" y="1151930"/>
                  <a:pt x="4042479" y="2572908"/>
                </a:cubicBezTo>
                <a:cubicBezTo>
                  <a:pt x="4042479" y="3993886"/>
                  <a:pt x="2890549" y="5145816"/>
                  <a:pt x="1469571" y="5145816"/>
                </a:cubicBezTo>
                <a:cubicBezTo>
                  <a:pt x="936704" y="5145816"/>
                  <a:pt x="441672" y="4983826"/>
                  <a:pt x="31034" y="47064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E5909B6-3BD3-89A6-C532-2485920A2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2" y="2263853"/>
            <a:ext cx="4042477" cy="5145816"/>
          </a:xfrm>
          <a:custGeom>
            <a:avLst/>
            <a:gdLst>
              <a:gd name="connsiteX0" fmla="*/ 0 w 4042477"/>
              <a:gd name="connsiteY0" fmla="*/ 2572908 h 5145816"/>
              <a:gd name="connsiteX1" fmla="*/ 2572908 w 4042477"/>
              <a:gd name="connsiteY1" fmla="*/ 0 h 5145816"/>
              <a:gd name="connsiteX2" fmla="*/ 4011446 w 4042477"/>
              <a:gd name="connsiteY2" fmla="*/ 439412 h 5145816"/>
              <a:gd name="connsiteX3" fmla="*/ 4042477 w 4042477"/>
              <a:gd name="connsiteY3" fmla="*/ 462617 h 5145816"/>
              <a:gd name="connsiteX4" fmla="*/ 4042477 w 4042477"/>
              <a:gd name="connsiteY4" fmla="*/ 4683199 h 5145816"/>
              <a:gd name="connsiteX5" fmla="*/ 4011445 w 4042477"/>
              <a:gd name="connsiteY5" fmla="*/ 4706404 h 5145816"/>
              <a:gd name="connsiteX6" fmla="*/ 2572908 w 4042477"/>
              <a:gd name="connsiteY6" fmla="*/ 5145816 h 5145816"/>
              <a:gd name="connsiteX7" fmla="*/ 0 w 4042477"/>
              <a:gd name="connsiteY7" fmla="*/ 2572908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2477" h="5145816">
                <a:moveTo>
                  <a:pt x="0" y="2572908"/>
                </a:moveTo>
                <a:cubicBezTo>
                  <a:pt x="0" y="1151930"/>
                  <a:pt x="1151930" y="0"/>
                  <a:pt x="2572908" y="0"/>
                </a:cubicBezTo>
                <a:cubicBezTo>
                  <a:pt x="3105775" y="0"/>
                  <a:pt x="3600807" y="161990"/>
                  <a:pt x="4011446" y="439412"/>
                </a:cubicBezTo>
                <a:lnTo>
                  <a:pt x="4042477" y="462617"/>
                </a:lnTo>
                <a:lnTo>
                  <a:pt x="4042477" y="4683199"/>
                </a:lnTo>
                <a:lnTo>
                  <a:pt x="4011445" y="4706404"/>
                </a:lnTo>
                <a:cubicBezTo>
                  <a:pt x="3600806" y="4983826"/>
                  <a:pt x="3105775" y="5145816"/>
                  <a:pt x="2572908" y="5145816"/>
                </a:cubicBezTo>
                <a:cubicBezTo>
                  <a:pt x="1151930" y="5145816"/>
                  <a:pt x="0" y="3993886"/>
                  <a:pt x="0" y="25729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24873-CBF5-A3C4-2FED-7A74AB03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482522" y="1763840"/>
            <a:ext cx="1226956" cy="3330322"/>
          </a:xfrm>
          <a:custGeom>
            <a:avLst/>
            <a:gdLst>
              <a:gd name="connsiteX0" fmla="*/ 656451 w 1312902"/>
              <a:gd name="connsiteY0" fmla="*/ 0 h 3563605"/>
              <a:gd name="connsiteX1" fmla="*/ 684220 w 1312902"/>
              <a:gd name="connsiteY1" fmla="*/ 30553 h 3563605"/>
              <a:gd name="connsiteX2" fmla="*/ 1312902 w 1312902"/>
              <a:gd name="connsiteY2" fmla="*/ 1781802 h 3563605"/>
              <a:gd name="connsiteX3" fmla="*/ 684220 w 1312902"/>
              <a:gd name="connsiteY3" fmla="*/ 3533052 h 3563605"/>
              <a:gd name="connsiteX4" fmla="*/ 656451 w 1312902"/>
              <a:gd name="connsiteY4" fmla="*/ 3563605 h 3563605"/>
              <a:gd name="connsiteX5" fmla="*/ 628683 w 1312902"/>
              <a:gd name="connsiteY5" fmla="*/ 3533052 h 3563605"/>
              <a:gd name="connsiteX6" fmla="*/ 0 w 1312902"/>
              <a:gd name="connsiteY6" fmla="*/ 1781802 h 3563605"/>
              <a:gd name="connsiteX7" fmla="*/ 628683 w 1312902"/>
              <a:gd name="connsiteY7" fmla="*/ 30553 h 356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2902" h="3563605">
                <a:moveTo>
                  <a:pt x="656451" y="0"/>
                </a:moveTo>
                <a:lnTo>
                  <a:pt x="684220" y="30553"/>
                </a:lnTo>
                <a:cubicBezTo>
                  <a:pt x="1076971" y="506457"/>
                  <a:pt x="1312902" y="1116577"/>
                  <a:pt x="1312902" y="1781802"/>
                </a:cubicBezTo>
                <a:cubicBezTo>
                  <a:pt x="1312902" y="2447027"/>
                  <a:pt x="1076971" y="3057147"/>
                  <a:pt x="684220" y="3533052"/>
                </a:cubicBezTo>
                <a:lnTo>
                  <a:pt x="656451" y="3563605"/>
                </a:lnTo>
                <a:lnTo>
                  <a:pt x="628683" y="3533052"/>
                </a:lnTo>
                <a:cubicBezTo>
                  <a:pt x="235932" y="3057147"/>
                  <a:pt x="0" y="2447027"/>
                  <a:pt x="0" y="1781802"/>
                </a:cubicBezTo>
                <a:cubicBezTo>
                  <a:pt x="0" y="1116577"/>
                  <a:pt x="235932" y="506457"/>
                  <a:pt x="628683" y="30553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8"/>
            <a:ext cx="10058400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5267956"/>
            <a:ext cx="10058400" cy="914400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20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694945"/>
            <a:ext cx="4572000" cy="5468112"/>
          </a:xfrm>
        </p:spPr>
        <p:txBody>
          <a:bodyPr lIns="0" tIns="0" rIns="0" bIns="0" anchor="t" anchorCtr="0"/>
          <a:lstStyle>
            <a:lvl1pPr marL="0" indent="0">
              <a:lnSpc>
                <a:spcPts val="24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Wingdings 3" charset="2"/>
              <a:buNone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5800" y="5953968"/>
            <a:ext cx="365760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81981-ACA6-F321-B526-C400A1D9E7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D413-D12F-D4FC-0369-637417A8ACA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6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5531A5-E0BC-2493-B1DF-7FDEBBD00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856093"/>
            <a:ext cx="5791637" cy="5145815"/>
            <a:chOff x="6400363" y="856093"/>
            <a:chExt cx="5791637" cy="514581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204924-0071-7102-F00E-8494C96FA10C}"/>
                </a:ext>
              </a:extLst>
            </p:cNvPr>
            <p:cNvSpPr/>
            <p:nvPr userDrawn="1"/>
          </p:nvSpPr>
          <p:spPr>
            <a:xfrm flipH="1">
              <a:off x="6400363" y="856093"/>
              <a:ext cx="5145815" cy="514581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C3D4C6F-59E1-AAC8-F730-988C9DA079C9}"/>
                </a:ext>
              </a:extLst>
            </p:cNvPr>
            <p:cNvSpPr/>
            <p:nvPr userDrawn="1"/>
          </p:nvSpPr>
          <p:spPr>
            <a:xfrm flipH="1">
              <a:off x="10319220" y="953697"/>
              <a:ext cx="1872780" cy="4949246"/>
            </a:xfrm>
            <a:custGeom>
              <a:avLst/>
              <a:gdLst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688294 w 1872780"/>
                <a:gd name="connsiteY7" fmla="*/ 403694 h 4949246"/>
                <a:gd name="connsiteX8" fmla="*/ 688294 w 1872780"/>
                <a:gd name="connsiteY8" fmla="*/ 311361 h 4949246"/>
                <a:gd name="connsiteX9" fmla="*/ 526273 w 1872780"/>
                <a:gd name="connsiteY9" fmla="*/ 212931 h 4949246"/>
                <a:gd name="connsiteX10" fmla="*/ 95108 w 1872780"/>
                <a:gd name="connsiteY10" fmla="*/ 27645 h 4949246"/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820319 w 1872780"/>
                <a:gd name="connsiteY7" fmla="*/ 335236 h 4949246"/>
                <a:gd name="connsiteX8" fmla="*/ 688294 w 1872780"/>
                <a:gd name="connsiteY8" fmla="*/ 311361 h 4949246"/>
                <a:gd name="connsiteX9" fmla="*/ 526273 w 1872780"/>
                <a:gd name="connsiteY9" fmla="*/ 212931 h 4949246"/>
                <a:gd name="connsiteX10" fmla="*/ 95108 w 1872780"/>
                <a:gd name="connsiteY10" fmla="*/ 27645 h 4949246"/>
                <a:gd name="connsiteX11" fmla="*/ 0 w 1872780"/>
                <a:gd name="connsiteY11" fmla="*/ 0 h 4949246"/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688294 w 1872780"/>
                <a:gd name="connsiteY7" fmla="*/ 311361 h 4949246"/>
                <a:gd name="connsiteX8" fmla="*/ 526273 w 1872780"/>
                <a:gd name="connsiteY8" fmla="*/ 212931 h 4949246"/>
                <a:gd name="connsiteX9" fmla="*/ 95108 w 1872780"/>
                <a:gd name="connsiteY9" fmla="*/ 27645 h 4949246"/>
                <a:gd name="connsiteX10" fmla="*/ 0 w 1872780"/>
                <a:gd name="connsiteY10" fmla="*/ 0 h 4949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72780" h="4949246">
                  <a:moveTo>
                    <a:pt x="0" y="0"/>
                  </a:moveTo>
                  <a:lnTo>
                    <a:pt x="0" y="4949246"/>
                  </a:lnTo>
                  <a:lnTo>
                    <a:pt x="64976" y="4932538"/>
                  </a:lnTo>
                  <a:cubicBezTo>
                    <a:pt x="1112326" y="4606779"/>
                    <a:pt x="1872780" y="3629848"/>
                    <a:pt x="1872780" y="2475303"/>
                  </a:cubicBezTo>
                  <a:cubicBezTo>
                    <a:pt x="1872780" y="1676003"/>
                    <a:pt x="1508302" y="961831"/>
                    <a:pt x="936480" y="489922"/>
                  </a:cubicBezTo>
                  <a:lnTo>
                    <a:pt x="816865" y="400475"/>
                  </a:lnTo>
                  <a:lnTo>
                    <a:pt x="816865" y="403694"/>
                  </a:lnTo>
                  <a:lnTo>
                    <a:pt x="688294" y="311361"/>
                  </a:lnTo>
                  <a:lnTo>
                    <a:pt x="526273" y="212931"/>
                  </a:lnTo>
                  <a:cubicBezTo>
                    <a:pt x="389561" y="138665"/>
                    <a:pt x="245366" y="76429"/>
                    <a:pt x="95108" y="2764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884E397-4075-3615-C87B-9D22754DFD4C}"/>
                </a:ext>
              </a:extLst>
            </p:cNvPr>
            <p:cNvSpPr/>
            <p:nvPr userDrawn="1"/>
          </p:nvSpPr>
          <p:spPr>
            <a:xfrm flipH="1">
              <a:off x="10319222" y="1763840"/>
              <a:ext cx="1226956" cy="3330322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3137" y="400925"/>
            <a:ext cx="8913947" cy="4061745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3140" y="4519311"/>
            <a:ext cx="8913949" cy="1657202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08CADAB-C836-336D-DC60-E20AAE3199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972878"/>
            <a:ext cx="1264455" cy="4926287"/>
          </a:xfrm>
          <a:custGeom>
            <a:avLst/>
            <a:gdLst>
              <a:gd name="connsiteX0" fmla="*/ 0 w 1264455"/>
              <a:gd name="connsiteY0" fmla="*/ 0 h 4926287"/>
              <a:gd name="connsiteX1" fmla="*/ 53564 w 1264455"/>
              <a:gd name="connsiteY1" fmla="*/ 0 h 4926287"/>
              <a:gd name="connsiteX2" fmla="*/ 184430 w 1264455"/>
              <a:gd name="connsiteY2" fmla="*/ 42338 h 4926287"/>
              <a:gd name="connsiteX3" fmla="*/ 1264455 w 1264455"/>
              <a:gd name="connsiteY3" fmla="*/ 797216 h 4926287"/>
              <a:gd name="connsiteX4" fmla="*/ 1245431 w 1264455"/>
              <a:gd name="connsiteY4" fmla="*/ 818786 h 4926287"/>
              <a:gd name="connsiteX5" fmla="*/ 646813 w 1264455"/>
              <a:gd name="connsiteY5" fmla="*/ 2455489 h 4926287"/>
              <a:gd name="connsiteX6" fmla="*/ 1245431 w 1264455"/>
              <a:gd name="connsiteY6" fmla="*/ 4092193 h 4926287"/>
              <a:gd name="connsiteX7" fmla="*/ 1264455 w 1264455"/>
              <a:gd name="connsiteY7" fmla="*/ 4113762 h 4926287"/>
              <a:gd name="connsiteX8" fmla="*/ 362544 w 1264455"/>
              <a:gd name="connsiteY8" fmla="*/ 4796931 h 4926287"/>
              <a:gd name="connsiteX9" fmla="*/ 201663 w 1264455"/>
              <a:gd name="connsiteY9" fmla="*/ 4862847 h 4926287"/>
              <a:gd name="connsiteX10" fmla="*/ 166695 w 1264455"/>
              <a:gd name="connsiteY10" fmla="*/ 4875645 h 4926287"/>
              <a:gd name="connsiteX11" fmla="*/ 49533 w 1264455"/>
              <a:gd name="connsiteY11" fmla="*/ 4913551 h 4926287"/>
              <a:gd name="connsiteX12" fmla="*/ 0 w 1264455"/>
              <a:gd name="connsiteY12" fmla="*/ 4926287 h 492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4455" h="4926287">
                <a:moveTo>
                  <a:pt x="0" y="0"/>
                </a:moveTo>
                <a:lnTo>
                  <a:pt x="53564" y="0"/>
                </a:lnTo>
                <a:lnTo>
                  <a:pt x="184430" y="42338"/>
                </a:lnTo>
                <a:cubicBezTo>
                  <a:pt x="607635" y="197310"/>
                  <a:pt x="979255" y="460836"/>
                  <a:pt x="1264455" y="797216"/>
                </a:cubicBezTo>
                <a:lnTo>
                  <a:pt x="1245431" y="818786"/>
                </a:lnTo>
                <a:cubicBezTo>
                  <a:pt x="871295" y="1264121"/>
                  <a:pt x="646813" y="1833796"/>
                  <a:pt x="646813" y="2455489"/>
                </a:cubicBezTo>
                <a:cubicBezTo>
                  <a:pt x="646813" y="3077183"/>
                  <a:pt x="871295" y="3648126"/>
                  <a:pt x="1245431" y="4092193"/>
                </a:cubicBezTo>
                <a:lnTo>
                  <a:pt x="1264455" y="4113762"/>
                </a:lnTo>
                <a:cubicBezTo>
                  <a:pt x="1019998" y="4403040"/>
                  <a:pt x="712048" y="4638079"/>
                  <a:pt x="362544" y="4796931"/>
                </a:cubicBezTo>
                <a:lnTo>
                  <a:pt x="201663" y="4862847"/>
                </a:lnTo>
                <a:lnTo>
                  <a:pt x="166695" y="4875645"/>
                </a:lnTo>
                <a:lnTo>
                  <a:pt x="49533" y="4913551"/>
                </a:lnTo>
                <a:lnTo>
                  <a:pt x="0" y="4926287"/>
                </a:lnTo>
                <a:close/>
              </a:path>
            </a:pathLst>
          </a:custGeom>
          <a:noFill/>
        </p:spPr>
        <p:txBody>
          <a:bodyPr wrap="square" lIns="0" tIns="10058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0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94944"/>
            <a:ext cx="3931919" cy="2763442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9D2F740-9D68-14D7-A2BD-C7AF3ED6587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753101" y="694944"/>
            <a:ext cx="4805362" cy="121157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800" b="1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D09E7E-72DE-59AE-3220-C9E02D690C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77333" y="3607903"/>
            <a:ext cx="3931920" cy="257212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lnSpc>
                <a:spcPts val="2400"/>
              </a:lnSpc>
              <a:buNone/>
              <a:defRPr/>
            </a:lvl1pPr>
            <a:lvl2pPr>
              <a:lnSpc>
                <a:spcPts val="2400"/>
              </a:lnSpc>
              <a:defRPr/>
            </a:lvl2pPr>
            <a:lvl3pPr>
              <a:lnSpc>
                <a:spcPts val="2400"/>
              </a:lnSpc>
              <a:defRPr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/>
            </a:lvl5pPr>
          </a:lstStyle>
          <a:p>
            <a:pPr marL="342900" marR="0" lvl="0" indent="-34290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2157413"/>
            <a:ext cx="5753098" cy="4005643"/>
          </a:xfrm>
        </p:spPr>
        <p:txBody>
          <a:bodyPr lIns="0" tIns="0" rIns="0" bIns="0" anchor="t" anchorCtr="0"/>
          <a:lstStyle>
            <a:lvl1pPr marL="0" indent="0">
              <a:lnSpc>
                <a:spcPts val="3000"/>
              </a:lnSpc>
              <a:spcBef>
                <a:spcPts val="2800"/>
              </a:spcBef>
              <a:buNone/>
              <a:defRPr/>
            </a:lvl1pPr>
            <a:lvl2pPr marL="742950" indent="-2857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A300139-9769-561C-12A0-4A466D0741A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4BEE22E-6B38-F772-940C-BDD74D402C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9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94944"/>
            <a:ext cx="5880629" cy="1690444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D09E7E-72DE-59AE-3220-C9E02D690C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77334" y="2476239"/>
            <a:ext cx="5880629" cy="32379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AD12D1E-D950-DF90-FC1D-F9BFC8962A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18338" y="0"/>
            <a:ext cx="5173662" cy="6858000"/>
          </a:xfrm>
          <a:custGeom>
            <a:avLst/>
            <a:gdLst>
              <a:gd name="connsiteX0" fmla="*/ 3805872 w 5173662"/>
              <a:gd name="connsiteY0" fmla="*/ 690240 h 6858000"/>
              <a:gd name="connsiteX1" fmla="*/ 3805872 w 5173662"/>
              <a:gd name="connsiteY1" fmla="*/ 818256 h 6858000"/>
              <a:gd name="connsiteX2" fmla="*/ 4262100 w 5173662"/>
              <a:gd name="connsiteY2" fmla="*/ 818256 h 6858000"/>
              <a:gd name="connsiteX3" fmla="*/ 3729696 w 5173662"/>
              <a:gd name="connsiteY3" fmla="*/ 1350660 h 6858000"/>
              <a:gd name="connsiteX4" fmla="*/ 3820217 w 5173662"/>
              <a:gd name="connsiteY4" fmla="*/ 1441181 h 6858000"/>
              <a:gd name="connsiteX5" fmla="*/ 4360085 w 5173662"/>
              <a:gd name="connsiteY5" fmla="*/ 901313 h 6858000"/>
              <a:gd name="connsiteX6" fmla="*/ 4360085 w 5173662"/>
              <a:gd name="connsiteY6" fmla="*/ 1365882 h 6858000"/>
              <a:gd name="connsiteX7" fmla="*/ 4488101 w 5173662"/>
              <a:gd name="connsiteY7" fmla="*/ 1365882 h 6858000"/>
              <a:gd name="connsiteX8" fmla="*/ 4488101 w 5173662"/>
              <a:gd name="connsiteY8" fmla="*/ 818256 h 6858000"/>
              <a:gd name="connsiteX9" fmla="*/ 4488102 w 5173662"/>
              <a:gd name="connsiteY9" fmla="*/ 818256 h 6858000"/>
              <a:gd name="connsiteX10" fmla="*/ 4488102 w 5173662"/>
              <a:gd name="connsiteY10" fmla="*/ 690240 h 6858000"/>
              <a:gd name="connsiteX11" fmla="*/ 4488101 w 5173662"/>
              <a:gd name="connsiteY11" fmla="*/ 690240 h 6858000"/>
              <a:gd name="connsiteX12" fmla="*/ 4360085 w 5173662"/>
              <a:gd name="connsiteY12" fmla="*/ 690240 h 6858000"/>
              <a:gd name="connsiteX13" fmla="*/ 0 w 5173662"/>
              <a:gd name="connsiteY13" fmla="*/ 0 h 6858000"/>
              <a:gd name="connsiteX14" fmla="*/ 5173662 w 5173662"/>
              <a:gd name="connsiteY14" fmla="*/ 0 h 6858000"/>
              <a:gd name="connsiteX15" fmla="*/ 5173662 w 5173662"/>
              <a:gd name="connsiteY15" fmla="*/ 6858000 h 6858000"/>
              <a:gd name="connsiteX16" fmla="*/ 0 w 5173662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73662" h="6858000">
                <a:moveTo>
                  <a:pt x="3805872" y="690240"/>
                </a:moveTo>
                <a:lnTo>
                  <a:pt x="3805872" y="818256"/>
                </a:lnTo>
                <a:lnTo>
                  <a:pt x="4262100" y="818256"/>
                </a:lnTo>
                <a:lnTo>
                  <a:pt x="3729696" y="1350660"/>
                </a:lnTo>
                <a:lnTo>
                  <a:pt x="3820217" y="1441181"/>
                </a:lnTo>
                <a:lnTo>
                  <a:pt x="4360085" y="901313"/>
                </a:lnTo>
                <a:lnTo>
                  <a:pt x="4360085" y="1365882"/>
                </a:lnTo>
                <a:lnTo>
                  <a:pt x="4488101" y="1365882"/>
                </a:lnTo>
                <a:lnTo>
                  <a:pt x="4488101" y="818256"/>
                </a:lnTo>
                <a:lnTo>
                  <a:pt x="4488102" y="818256"/>
                </a:lnTo>
                <a:lnTo>
                  <a:pt x="4488102" y="690240"/>
                </a:lnTo>
                <a:lnTo>
                  <a:pt x="4488101" y="690240"/>
                </a:lnTo>
                <a:lnTo>
                  <a:pt x="4360085" y="690240"/>
                </a:lnTo>
                <a:close/>
                <a:moveTo>
                  <a:pt x="0" y="0"/>
                </a:moveTo>
                <a:lnTo>
                  <a:pt x="5173662" y="0"/>
                </a:lnTo>
                <a:lnTo>
                  <a:pt x="517366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6EFE9-69CE-71E1-5B5B-E344DFB9DFF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CF949-C78F-45EC-4CDE-5D1B002F0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15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862641"/>
            <a:ext cx="4339805" cy="2566357"/>
          </a:xfr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E1EFA6-BBF1-0CF2-B2A5-354FA444260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753101" y="3657818"/>
            <a:ext cx="4339805" cy="2734053"/>
          </a:xfr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8106A4-B5DE-575D-F7FC-30617899BB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D562560-6E8E-BE71-34A7-27F566AA4B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40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5"/>
            <a:ext cx="10058400" cy="1280160"/>
          </a:xfrm>
        </p:spPr>
        <p:txBody>
          <a:bodyPr lIns="0" tIns="0" rIns="0" bIns="9144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166B37-A875-10F1-3052-1F5C0DBA005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6741" y="2140864"/>
            <a:ext cx="3797114" cy="3494753"/>
          </a:xfrm>
        </p:spPr>
        <p:txBody>
          <a:bodyPr lIns="91440">
            <a:normAutofit/>
          </a:bodyPr>
          <a:lstStyle>
            <a:lvl1pPr>
              <a:spcBef>
                <a:spcPts val="2800"/>
              </a:spcBef>
              <a:defRPr sz="2400"/>
            </a:lvl1pPr>
            <a:lvl2pPr>
              <a:spcBef>
                <a:spcPts val="2800"/>
              </a:spcBef>
              <a:defRPr sz="2000"/>
            </a:lvl2pPr>
            <a:lvl3pPr>
              <a:spcBef>
                <a:spcPts val="2800"/>
              </a:spcBef>
              <a:defRPr sz="1800"/>
            </a:lvl3pPr>
            <a:lvl4pPr>
              <a:spcBef>
                <a:spcPts val="2800"/>
              </a:spcBef>
              <a:defRPr sz="1600"/>
            </a:lvl4pPr>
            <a:lvl5pPr>
              <a:spcBef>
                <a:spcPts val="2800"/>
              </a:spcBef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16CC85AA-22A1-34BB-C21E-8EEC11334A9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054600" y="2103438"/>
            <a:ext cx="6451600" cy="35321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6CDA2-E91D-329D-7637-2B7A71AB4DE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C0597-1B00-EE50-9A1B-7B2CD5D3EE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0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5"/>
            <a:ext cx="10058400" cy="1280160"/>
          </a:xfrm>
        </p:spPr>
        <p:txBody>
          <a:bodyPr lIns="0" tIns="0" rIns="0" bIns="9144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DB2F69B-2054-2B19-B5CA-CB02C02F900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85800" y="2103438"/>
            <a:ext cx="10820400" cy="37020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D5D5A-0193-F076-B3BC-8B80744EFDC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4FF8D-2D04-5E87-990C-B171F1B47A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7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B062180-6901-78B5-8F7B-76665DF8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1" y="-551669"/>
            <a:ext cx="4042479" cy="5145816"/>
          </a:xfrm>
          <a:custGeom>
            <a:avLst/>
            <a:gdLst>
              <a:gd name="connsiteX0" fmla="*/ 0 w 4042479"/>
              <a:gd name="connsiteY0" fmla="*/ 4683197 h 5145816"/>
              <a:gd name="connsiteX1" fmla="*/ 0 w 4042479"/>
              <a:gd name="connsiteY1" fmla="*/ 462619 h 5145816"/>
              <a:gd name="connsiteX2" fmla="*/ 31034 w 4042479"/>
              <a:gd name="connsiteY2" fmla="*/ 439413 h 5145816"/>
              <a:gd name="connsiteX3" fmla="*/ 1469571 w 4042479"/>
              <a:gd name="connsiteY3" fmla="*/ 0 h 5145816"/>
              <a:gd name="connsiteX4" fmla="*/ 4042479 w 4042479"/>
              <a:gd name="connsiteY4" fmla="*/ 2572908 h 5145816"/>
              <a:gd name="connsiteX5" fmla="*/ 1469571 w 4042479"/>
              <a:gd name="connsiteY5" fmla="*/ 5145816 h 5145816"/>
              <a:gd name="connsiteX6" fmla="*/ 31034 w 4042479"/>
              <a:gd name="connsiteY6" fmla="*/ 4706404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2479" h="5145816">
                <a:moveTo>
                  <a:pt x="0" y="4683197"/>
                </a:moveTo>
                <a:lnTo>
                  <a:pt x="0" y="462619"/>
                </a:lnTo>
                <a:lnTo>
                  <a:pt x="31034" y="439413"/>
                </a:lnTo>
                <a:cubicBezTo>
                  <a:pt x="441673" y="161990"/>
                  <a:pt x="936704" y="0"/>
                  <a:pt x="1469571" y="0"/>
                </a:cubicBezTo>
                <a:cubicBezTo>
                  <a:pt x="2890549" y="0"/>
                  <a:pt x="4042479" y="1151930"/>
                  <a:pt x="4042479" y="2572908"/>
                </a:cubicBezTo>
                <a:cubicBezTo>
                  <a:pt x="4042479" y="3993886"/>
                  <a:pt x="2890549" y="5145816"/>
                  <a:pt x="1469571" y="5145816"/>
                </a:cubicBezTo>
                <a:cubicBezTo>
                  <a:pt x="936704" y="5145816"/>
                  <a:pt x="441672" y="4983826"/>
                  <a:pt x="31034" y="47064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E5909B6-3BD3-89A6-C532-2485920A2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2" y="2263853"/>
            <a:ext cx="4042477" cy="5145816"/>
          </a:xfrm>
          <a:custGeom>
            <a:avLst/>
            <a:gdLst>
              <a:gd name="connsiteX0" fmla="*/ 0 w 4042477"/>
              <a:gd name="connsiteY0" fmla="*/ 2572908 h 5145816"/>
              <a:gd name="connsiteX1" fmla="*/ 2572908 w 4042477"/>
              <a:gd name="connsiteY1" fmla="*/ 0 h 5145816"/>
              <a:gd name="connsiteX2" fmla="*/ 4011446 w 4042477"/>
              <a:gd name="connsiteY2" fmla="*/ 439412 h 5145816"/>
              <a:gd name="connsiteX3" fmla="*/ 4042477 w 4042477"/>
              <a:gd name="connsiteY3" fmla="*/ 462617 h 5145816"/>
              <a:gd name="connsiteX4" fmla="*/ 4042477 w 4042477"/>
              <a:gd name="connsiteY4" fmla="*/ 4683199 h 5145816"/>
              <a:gd name="connsiteX5" fmla="*/ 4011445 w 4042477"/>
              <a:gd name="connsiteY5" fmla="*/ 4706404 h 5145816"/>
              <a:gd name="connsiteX6" fmla="*/ 2572908 w 4042477"/>
              <a:gd name="connsiteY6" fmla="*/ 5145816 h 5145816"/>
              <a:gd name="connsiteX7" fmla="*/ 0 w 4042477"/>
              <a:gd name="connsiteY7" fmla="*/ 2572908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2477" h="5145816">
                <a:moveTo>
                  <a:pt x="0" y="2572908"/>
                </a:moveTo>
                <a:cubicBezTo>
                  <a:pt x="0" y="1151930"/>
                  <a:pt x="1151930" y="0"/>
                  <a:pt x="2572908" y="0"/>
                </a:cubicBezTo>
                <a:cubicBezTo>
                  <a:pt x="3105775" y="0"/>
                  <a:pt x="3600807" y="161990"/>
                  <a:pt x="4011446" y="439412"/>
                </a:cubicBezTo>
                <a:lnTo>
                  <a:pt x="4042477" y="462617"/>
                </a:lnTo>
                <a:lnTo>
                  <a:pt x="4042477" y="4683199"/>
                </a:lnTo>
                <a:lnTo>
                  <a:pt x="4011445" y="4706404"/>
                </a:lnTo>
                <a:cubicBezTo>
                  <a:pt x="3600806" y="4983826"/>
                  <a:pt x="3105775" y="5145816"/>
                  <a:pt x="2572908" y="5145816"/>
                </a:cubicBezTo>
                <a:cubicBezTo>
                  <a:pt x="1151930" y="5145816"/>
                  <a:pt x="0" y="3993886"/>
                  <a:pt x="0" y="25729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24873-CBF5-A3C4-2FED-7A74AB03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482522" y="1763840"/>
            <a:ext cx="1226956" cy="3330322"/>
          </a:xfrm>
          <a:custGeom>
            <a:avLst/>
            <a:gdLst>
              <a:gd name="connsiteX0" fmla="*/ 656451 w 1312902"/>
              <a:gd name="connsiteY0" fmla="*/ 0 h 3563605"/>
              <a:gd name="connsiteX1" fmla="*/ 684220 w 1312902"/>
              <a:gd name="connsiteY1" fmla="*/ 30553 h 3563605"/>
              <a:gd name="connsiteX2" fmla="*/ 1312902 w 1312902"/>
              <a:gd name="connsiteY2" fmla="*/ 1781802 h 3563605"/>
              <a:gd name="connsiteX3" fmla="*/ 684220 w 1312902"/>
              <a:gd name="connsiteY3" fmla="*/ 3533052 h 3563605"/>
              <a:gd name="connsiteX4" fmla="*/ 656451 w 1312902"/>
              <a:gd name="connsiteY4" fmla="*/ 3563605 h 3563605"/>
              <a:gd name="connsiteX5" fmla="*/ 628683 w 1312902"/>
              <a:gd name="connsiteY5" fmla="*/ 3533052 h 3563605"/>
              <a:gd name="connsiteX6" fmla="*/ 0 w 1312902"/>
              <a:gd name="connsiteY6" fmla="*/ 1781802 h 3563605"/>
              <a:gd name="connsiteX7" fmla="*/ 628683 w 1312902"/>
              <a:gd name="connsiteY7" fmla="*/ 30553 h 356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2902" h="3563605">
                <a:moveTo>
                  <a:pt x="656451" y="0"/>
                </a:moveTo>
                <a:lnTo>
                  <a:pt x="684220" y="30553"/>
                </a:lnTo>
                <a:cubicBezTo>
                  <a:pt x="1076971" y="506457"/>
                  <a:pt x="1312902" y="1116577"/>
                  <a:pt x="1312902" y="1781802"/>
                </a:cubicBezTo>
                <a:cubicBezTo>
                  <a:pt x="1312902" y="2447027"/>
                  <a:pt x="1076971" y="3057147"/>
                  <a:pt x="684220" y="3533052"/>
                </a:cubicBezTo>
                <a:lnTo>
                  <a:pt x="656451" y="3563605"/>
                </a:lnTo>
                <a:lnTo>
                  <a:pt x="628683" y="3533052"/>
                </a:lnTo>
                <a:cubicBezTo>
                  <a:pt x="235932" y="3057147"/>
                  <a:pt x="0" y="2447027"/>
                  <a:pt x="0" y="1781802"/>
                </a:cubicBezTo>
                <a:cubicBezTo>
                  <a:pt x="0" y="1116577"/>
                  <a:pt x="235932" y="506457"/>
                  <a:pt x="628683" y="30553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4273D7-57D0-754C-B3BD-00D85865C8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23091" y="3427812"/>
            <a:ext cx="5143494" cy="3430188"/>
          </a:xfrm>
          <a:custGeom>
            <a:avLst/>
            <a:gdLst>
              <a:gd name="connsiteX0" fmla="*/ 922627 w 5143494"/>
              <a:gd name="connsiteY0" fmla="*/ 0 h 3430188"/>
              <a:gd name="connsiteX1" fmla="*/ 955285 w 5143494"/>
              <a:gd name="connsiteY1" fmla="*/ 29682 h 3430188"/>
              <a:gd name="connsiteX2" fmla="*/ 2591894 w 5143494"/>
              <a:gd name="connsiteY2" fmla="*/ 617209 h 3430188"/>
              <a:gd name="connsiteX3" fmla="*/ 4228502 w 5143494"/>
              <a:gd name="connsiteY3" fmla="*/ 29682 h 3430188"/>
              <a:gd name="connsiteX4" fmla="*/ 4240798 w 5143494"/>
              <a:gd name="connsiteY4" fmla="*/ 18506 h 3430188"/>
              <a:gd name="connsiteX5" fmla="*/ 4390247 w 5143494"/>
              <a:gd name="connsiteY5" fmla="*/ 157278 h 3430188"/>
              <a:gd name="connsiteX6" fmla="*/ 5143494 w 5143494"/>
              <a:gd name="connsiteY6" fmla="*/ 2015180 h 3430188"/>
              <a:gd name="connsiteX7" fmla="*/ 4833098 w 5143494"/>
              <a:gd name="connsiteY7" fmla="*/ 3267589 h 3430188"/>
              <a:gd name="connsiteX8" fmla="*/ 4736412 w 5143494"/>
              <a:gd name="connsiteY8" fmla="*/ 3430188 h 3430188"/>
              <a:gd name="connsiteX9" fmla="*/ 407083 w 5143494"/>
              <a:gd name="connsiteY9" fmla="*/ 3430188 h 3430188"/>
              <a:gd name="connsiteX10" fmla="*/ 310396 w 5143494"/>
              <a:gd name="connsiteY10" fmla="*/ 3267589 h 3430188"/>
              <a:gd name="connsiteX11" fmla="*/ 0 w 5143494"/>
              <a:gd name="connsiteY11" fmla="*/ 2015180 h 3430188"/>
              <a:gd name="connsiteX12" fmla="*/ 753247 w 5143494"/>
              <a:gd name="connsiteY12" fmla="*/ 157278 h 3430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3494" h="3430188">
                <a:moveTo>
                  <a:pt x="922627" y="0"/>
                </a:moveTo>
                <a:lnTo>
                  <a:pt x="955285" y="29682"/>
                </a:lnTo>
                <a:cubicBezTo>
                  <a:pt x="1400036" y="396722"/>
                  <a:pt x="1970216" y="617209"/>
                  <a:pt x="2591894" y="617209"/>
                </a:cubicBezTo>
                <a:cubicBezTo>
                  <a:pt x="3213572" y="617209"/>
                  <a:pt x="3783752" y="396722"/>
                  <a:pt x="4228502" y="29682"/>
                </a:cubicBezTo>
                <a:lnTo>
                  <a:pt x="4240798" y="18506"/>
                </a:lnTo>
                <a:lnTo>
                  <a:pt x="4390247" y="157278"/>
                </a:lnTo>
                <a:cubicBezTo>
                  <a:pt x="4855642" y="632756"/>
                  <a:pt x="5143494" y="1289624"/>
                  <a:pt x="5143494" y="2015180"/>
                </a:cubicBezTo>
                <a:cubicBezTo>
                  <a:pt x="5143494" y="2468653"/>
                  <a:pt x="5031052" y="2895294"/>
                  <a:pt x="4833098" y="3267589"/>
                </a:cubicBezTo>
                <a:lnTo>
                  <a:pt x="4736412" y="3430188"/>
                </a:lnTo>
                <a:lnTo>
                  <a:pt x="407083" y="3430188"/>
                </a:lnTo>
                <a:lnTo>
                  <a:pt x="310396" y="3267589"/>
                </a:lnTo>
                <a:cubicBezTo>
                  <a:pt x="112443" y="2895294"/>
                  <a:pt x="0" y="2468653"/>
                  <a:pt x="0" y="2015180"/>
                </a:cubicBezTo>
                <a:cubicBezTo>
                  <a:pt x="0" y="1289624"/>
                  <a:pt x="287853" y="632756"/>
                  <a:pt x="753247" y="157278"/>
                </a:cubicBezTo>
                <a:close/>
              </a:path>
            </a:pathLst>
          </a:custGeom>
          <a:noFill/>
        </p:spPr>
        <p:txBody>
          <a:bodyPr wrap="square" tIns="9144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8"/>
            <a:ext cx="10058400" cy="326644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84867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6">
            <a:extLst>
              <a:ext uri="{FF2B5EF4-FFF2-40B4-BE49-F238E27FC236}">
                <a16:creationId xmlns:a16="http://schemas.microsoft.com/office/drawing/2014/main" id="{BB199B51-3DFF-3DF2-E402-55A5DA84946E}"/>
              </a:ext>
            </a:extLst>
          </p:cNvPr>
          <p:cNvSpPr/>
          <p:nvPr userDrawn="1"/>
        </p:nvSpPr>
        <p:spPr>
          <a:xfrm>
            <a:off x="7010400" y="0"/>
            <a:ext cx="5175265" cy="6859269"/>
          </a:xfrm>
          <a:custGeom>
            <a:avLst/>
            <a:gdLst>
              <a:gd name="connsiteX0" fmla="*/ 0 w 5175265"/>
              <a:gd name="connsiteY0" fmla="*/ 0 h 6859269"/>
              <a:gd name="connsiteX1" fmla="*/ 0 w 5175265"/>
              <a:gd name="connsiteY1" fmla="*/ 6407150 h 6859269"/>
              <a:gd name="connsiteX2" fmla="*/ 4494943 w 5175265"/>
              <a:gd name="connsiteY2" fmla="*/ 6407150 h 6859269"/>
              <a:gd name="connsiteX3" fmla="*/ 4505078 w 5175265"/>
              <a:gd name="connsiteY3" fmla="*/ 6417310 h 6859269"/>
              <a:gd name="connsiteX4" fmla="*/ 4494943 w 5175265"/>
              <a:gd name="connsiteY4" fmla="*/ 6427470 h 6859269"/>
              <a:gd name="connsiteX5" fmla="*/ 0 w 5175265"/>
              <a:gd name="connsiteY5" fmla="*/ 6427470 h 6859269"/>
              <a:gd name="connsiteX6" fmla="*/ 0 w 5175265"/>
              <a:gd name="connsiteY6" fmla="*/ 6859270 h 6859269"/>
              <a:gd name="connsiteX7" fmla="*/ 5175266 w 5175265"/>
              <a:gd name="connsiteY7" fmla="*/ 6859270 h 6859269"/>
              <a:gd name="connsiteX8" fmla="*/ 5175266 w 5175265"/>
              <a:gd name="connsiteY8" fmla="*/ 0 h 6859269"/>
              <a:gd name="connsiteX9" fmla="*/ 0 w 5175265"/>
              <a:gd name="connsiteY9" fmla="*/ 0 h 6859269"/>
              <a:gd name="connsiteX10" fmla="*/ 4491143 w 5175265"/>
              <a:gd name="connsiteY10" fmla="*/ 1362710 h 6859269"/>
              <a:gd name="connsiteX11" fmla="*/ 4364453 w 5175265"/>
              <a:gd name="connsiteY11" fmla="*/ 1362710 h 6859269"/>
              <a:gd name="connsiteX12" fmla="*/ 4364453 w 5175265"/>
              <a:gd name="connsiteY12" fmla="*/ 895350 h 6859269"/>
              <a:gd name="connsiteX13" fmla="*/ 3826023 w 5175265"/>
              <a:gd name="connsiteY13" fmla="*/ 1435100 h 6859269"/>
              <a:gd name="connsiteX14" fmla="*/ 3736073 w 5175265"/>
              <a:gd name="connsiteY14" fmla="*/ 1344930 h 6859269"/>
              <a:gd name="connsiteX15" fmla="*/ 4261835 w 5175265"/>
              <a:gd name="connsiteY15" fmla="*/ 817880 h 6859269"/>
              <a:gd name="connsiteX16" fmla="*/ 3807019 w 5175265"/>
              <a:gd name="connsiteY16" fmla="*/ 817880 h 6859269"/>
              <a:gd name="connsiteX17" fmla="*/ 3807019 w 5175265"/>
              <a:gd name="connsiteY17" fmla="*/ 690880 h 6859269"/>
              <a:gd name="connsiteX18" fmla="*/ 4364453 w 5175265"/>
              <a:gd name="connsiteY18" fmla="*/ 690880 h 6859269"/>
              <a:gd name="connsiteX19" fmla="*/ 4482274 w 5175265"/>
              <a:gd name="connsiteY19" fmla="*/ 690880 h 6859269"/>
              <a:gd name="connsiteX20" fmla="*/ 4491143 w 5175265"/>
              <a:gd name="connsiteY20" fmla="*/ 690880 h 6859269"/>
              <a:gd name="connsiteX21" fmla="*/ 4491143 w 5175265"/>
              <a:gd name="connsiteY21" fmla="*/ 1362710 h 6859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75265" h="6859269">
                <a:moveTo>
                  <a:pt x="0" y="0"/>
                </a:moveTo>
                <a:lnTo>
                  <a:pt x="0" y="6407150"/>
                </a:lnTo>
                <a:lnTo>
                  <a:pt x="4494943" y="6407150"/>
                </a:lnTo>
                <a:cubicBezTo>
                  <a:pt x="4500011" y="6407150"/>
                  <a:pt x="4505078" y="6410960"/>
                  <a:pt x="4505078" y="6417310"/>
                </a:cubicBezTo>
                <a:cubicBezTo>
                  <a:pt x="4505078" y="6423660"/>
                  <a:pt x="4501278" y="6427470"/>
                  <a:pt x="4494943" y="6427470"/>
                </a:cubicBezTo>
                <a:lnTo>
                  <a:pt x="0" y="6427470"/>
                </a:lnTo>
                <a:lnTo>
                  <a:pt x="0" y="6859270"/>
                </a:lnTo>
                <a:lnTo>
                  <a:pt x="5175266" y="6859270"/>
                </a:lnTo>
                <a:lnTo>
                  <a:pt x="5175266" y="0"/>
                </a:lnTo>
                <a:lnTo>
                  <a:pt x="0" y="0"/>
                </a:lnTo>
                <a:close/>
                <a:moveTo>
                  <a:pt x="4491143" y="1362710"/>
                </a:moveTo>
                <a:lnTo>
                  <a:pt x="4364453" y="1362710"/>
                </a:lnTo>
                <a:lnTo>
                  <a:pt x="4364453" y="895350"/>
                </a:lnTo>
                <a:lnTo>
                  <a:pt x="3826023" y="1435100"/>
                </a:lnTo>
                <a:lnTo>
                  <a:pt x="3736073" y="1344930"/>
                </a:lnTo>
                <a:lnTo>
                  <a:pt x="4261835" y="817880"/>
                </a:lnTo>
                <a:lnTo>
                  <a:pt x="3807019" y="817880"/>
                </a:lnTo>
                <a:lnTo>
                  <a:pt x="3807019" y="690880"/>
                </a:lnTo>
                <a:lnTo>
                  <a:pt x="4364453" y="690880"/>
                </a:lnTo>
                <a:lnTo>
                  <a:pt x="4482274" y="690880"/>
                </a:lnTo>
                <a:lnTo>
                  <a:pt x="4491143" y="690880"/>
                </a:lnTo>
                <a:lnTo>
                  <a:pt x="4491143" y="136271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6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9584266" cy="1387852"/>
          </a:xfrm>
        </p:spPr>
        <p:txBody>
          <a:bodyPr lIns="0" tIns="0" rIns="45720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F37D59-BF08-6CEE-197E-A579E4701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BC225B1-A420-C658-9FD7-067B9FEFF7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77334" y="2552698"/>
            <a:ext cx="5964766" cy="3083217"/>
          </a:xfrm>
        </p:spPr>
        <p:txBody>
          <a:bodyPr lIns="91440">
            <a:noAutofit/>
          </a:bodyPr>
          <a:lstStyle>
            <a:lvl1pPr marL="457200" indent="-457200">
              <a:spcBef>
                <a:spcPts val="1600"/>
              </a:spcBef>
              <a:buSzPct val="100000"/>
              <a:buFont typeface="+mj-lt"/>
              <a:buAutoNum type="arabicPeriod"/>
              <a:defRPr sz="1800"/>
            </a:lvl1pPr>
            <a:lvl2pPr marL="800100" indent="-342900">
              <a:spcBef>
                <a:spcPts val="1600"/>
              </a:spcBef>
              <a:buSzPct val="100000"/>
              <a:buFont typeface="+mj-lt"/>
              <a:buAutoNum type="alphaLcPeriod"/>
              <a:defRPr sz="1600"/>
            </a:lvl2pPr>
            <a:lvl3pPr marL="1257300" indent="-342900">
              <a:spcBef>
                <a:spcPts val="1600"/>
              </a:spcBef>
              <a:buSzPct val="100000"/>
              <a:buFont typeface="+mj-lt"/>
              <a:buAutoNum type="arabicParenR"/>
              <a:defRPr sz="1400"/>
            </a:lvl3pPr>
            <a:lvl4pPr marL="1600200" indent="-228600">
              <a:spcBef>
                <a:spcPts val="1600"/>
              </a:spcBef>
              <a:buSzPct val="100000"/>
              <a:buFont typeface="+mj-lt"/>
              <a:buAutoNum type="alphaLcParenR"/>
              <a:defRPr sz="1200"/>
            </a:lvl4pPr>
            <a:lvl5pPr marL="2057400" indent="-228600">
              <a:spcBef>
                <a:spcPts val="1600"/>
              </a:spcBef>
              <a:buSzPct val="100000"/>
              <a:buFont typeface="+mj-lt"/>
              <a:buAutoNum type="romanLcPeriod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5F9D66-4BCE-5466-BE42-19F154C5BF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56513" y="2552699"/>
            <a:ext cx="3842913" cy="3083216"/>
          </a:xfrm>
        </p:spPr>
        <p:txBody>
          <a:bodyPr>
            <a:noAutofit/>
          </a:bodyPr>
          <a:lstStyle>
            <a:lvl1pPr marL="457200" indent="-457200">
              <a:lnSpc>
                <a:spcPts val="2400"/>
              </a:lnSpc>
              <a:spcBef>
                <a:spcPts val="2800"/>
              </a:spcBef>
              <a:defRPr sz="2400"/>
            </a:lvl1pPr>
            <a:lvl2pPr>
              <a:lnSpc>
                <a:spcPts val="2400"/>
              </a:lnSpc>
              <a:spcBef>
                <a:spcPts val="2800"/>
              </a:spcBef>
              <a:defRPr sz="2000"/>
            </a:lvl2pPr>
            <a:lvl3pPr>
              <a:lnSpc>
                <a:spcPts val="2400"/>
              </a:lnSpc>
              <a:spcBef>
                <a:spcPts val="2800"/>
              </a:spcBef>
              <a:defRPr sz="1800"/>
            </a:lvl3pPr>
            <a:lvl4pPr>
              <a:lnSpc>
                <a:spcPts val="2400"/>
              </a:lnSpc>
              <a:spcBef>
                <a:spcPts val="2800"/>
              </a:spcBef>
              <a:defRPr sz="1600"/>
            </a:lvl4pPr>
            <a:lvl5pPr>
              <a:lnSpc>
                <a:spcPts val="2400"/>
              </a:lnSpc>
              <a:spcBef>
                <a:spcPts val="2800"/>
              </a:spcBef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73DFC-848F-3CB1-23EC-9E1D65E487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99A12-3443-5523-F408-1CF310CF25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8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E195471-80E6-2173-AB78-E4AE69292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563663" y="856093"/>
            <a:ext cx="9064674" cy="5145815"/>
            <a:chOff x="1400539" y="700853"/>
            <a:chExt cx="9699638" cy="550627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183DD5A-FAA9-3AB5-A277-0BD8F58B7AC9}"/>
                </a:ext>
              </a:extLst>
            </p:cNvPr>
            <p:cNvSpPr/>
            <p:nvPr userDrawn="1"/>
          </p:nvSpPr>
          <p:spPr>
            <a:xfrm>
              <a:off x="1400539" y="700853"/>
              <a:ext cx="5506270" cy="55062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22BF3AA-2377-DDB1-A0FA-B1CEAEC0FCE9}"/>
                </a:ext>
              </a:extLst>
            </p:cNvPr>
            <p:cNvSpPr/>
            <p:nvPr userDrawn="1"/>
          </p:nvSpPr>
          <p:spPr>
            <a:xfrm>
              <a:off x="5593907" y="700853"/>
              <a:ext cx="5506270" cy="5506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324873-CBF5-A3C4-2FED-7A74AB030421}"/>
                </a:ext>
              </a:extLst>
            </p:cNvPr>
            <p:cNvSpPr/>
            <p:nvPr userDrawn="1"/>
          </p:nvSpPr>
          <p:spPr>
            <a:xfrm>
              <a:off x="5593907" y="1672186"/>
              <a:ext cx="1312902" cy="3563605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685799"/>
            <a:ext cx="10058400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5257798"/>
            <a:ext cx="10820397" cy="911425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33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109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CBD89-63D9-CB44-E4AE-7915C4D7850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E4793-C529-931D-7D27-4D16610424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96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94946"/>
            <a:ext cx="3793387" cy="27340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1744" y="1926775"/>
            <a:ext cx="5862526" cy="42362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" y="5943600"/>
            <a:ext cx="365760" cy="3657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0" tIns="0" rIns="0" bIns="0" rtlCol="0" anchor="ctr" anchorCtr="0"/>
          <a:lstStyle>
            <a:lvl1pPr algn="ct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71F1EA-20C8-8269-4328-9CFD833A93B4}"/>
              </a:ext>
            </a:extLst>
          </p:cNvPr>
          <p:cNvGrpSpPr/>
          <p:nvPr userDrawn="1"/>
        </p:nvGrpSpPr>
        <p:grpSpPr>
          <a:xfrm>
            <a:off x="10838266" y="752719"/>
            <a:ext cx="602728" cy="596004"/>
            <a:chOff x="11118823" y="513726"/>
            <a:chExt cx="602728" cy="59600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C92664-11DA-FCCE-2DBA-5940FD85729D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6335C2E-70C2-3AA2-D2F6-9837BEB891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7E2B3B-D823-D184-ED44-A72BCBB8C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B05127-A3EE-BCA6-38E9-FEE0E6134EFE}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3862978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E98D2-F38D-1ACF-2990-1F0273375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9107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4BCE-35F6-425E-BEE7-07902E8BBFFC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DE75F-DF1E-1625-34E8-3AEB1503F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69" r:id="rId3"/>
    <p:sldLayoutId id="2147483668" r:id="rId4"/>
    <p:sldLayoutId id="2147483689" r:id="rId5"/>
    <p:sldLayoutId id="2147483690" r:id="rId6"/>
    <p:sldLayoutId id="2147483691" r:id="rId7"/>
    <p:sldLayoutId id="2147483694" r:id="rId8"/>
    <p:sldLayoutId id="2147483695" r:id="rId9"/>
    <p:sldLayoutId id="2147483670" r:id="rId10"/>
    <p:sldLayoutId id="2147483696" r:id="rId11"/>
    <p:sldLayoutId id="2147483678" r:id="rId12"/>
    <p:sldLayoutId id="2147483677" r:id="rId13"/>
    <p:sldLayoutId id="2147483671" r:id="rId14"/>
  </p:sldLayoutIdLst>
  <p:hf sldNum="0" hdr="0" ftr="0" dt="0"/>
  <p:txStyles>
    <p:titleStyle>
      <a:lvl1pPr algn="l" defTabSz="457200" rtl="0" eaLnBrk="1" latinLnBrk="0" hangingPunct="1">
        <a:lnSpc>
          <a:spcPts val="4500"/>
        </a:lnSpc>
        <a:spcBef>
          <a:spcPct val="0"/>
        </a:spcBef>
        <a:buNone/>
        <a:defRPr sz="40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14DB-AE04-43EA-0022-86BA29BBD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685799"/>
            <a:ext cx="10058397" cy="4572000"/>
          </a:xfrm>
        </p:spPr>
        <p:txBody>
          <a:bodyPr/>
          <a:lstStyle/>
          <a:p>
            <a:r>
              <a:rPr lang="en-US" dirty="0"/>
              <a:t>Nvidia Executive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1BEBF-938E-065E-6115-0288BB569CFA}"/>
              </a:ext>
            </a:extLst>
          </p:cNvPr>
          <p:cNvSpPr txBox="1"/>
          <p:nvPr/>
        </p:nvSpPr>
        <p:spPr>
          <a:xfrm>
            <a:off x="685799" y="5987535"/>
            <a:ext cx="265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LiLi Alderink</a:t>
            </a:r>
          </a:p>
        </p:txBody>
      </p:sp>
    </p:spTree>
    <p:extLst>
      <p:ext uri="{BB962C8B-B14F-4D97-AF65-F5344CB8AC3E}">
        <p14:creationId xmlns:p14="http://schemas.microsoft.com/office/powerpoint/2010/main" val="197869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5596-DEAF-3562-8698-A9ED475C0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94944"/>
            <a:ext cx="9559345" cy="1387852"/>
          </a:xfrm>
        </p:spPr>
        <p:txBody>
          <a:bodyPr/>
          <a:lstStyle/>
          <a:p>
            <a:r>
              <a:rPr lang="en-US" dirty="0"/>
              <a:t>Investment Committee Pitch: NVIDIA Corporation (NVDA)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BE3B9-6C5A-4D74-6EC8-E482719AF9E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8323" y="2110831"/>
            <a:ext cx="5964766" cy="308321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Committee Recommendation: </a:t>
            </a:r>
            <a:r>
              <a:rPr lang="en-US" b="1" dirty="0">
                <a:highlight>
                  <a:srgbClr val="FFFF00"/>
                </a:highlight>
              </a:rPr>
              <a:t>WATCH — DEFER</a:t>
            </a:r>
            <a:r>
              <a:rPr lang="en-US" dirty="0"/>
              <a:t> (Do not initiate a position today)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Market Price: </a:t>
            </a:r>
            <a:r>
              <a:rPr lang="en-US" b="1" dirty="0"/>
              <a:t>~$218.00 / share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Valuation Summary Range: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Base-Case DCF (Conservative fade): $119.17 / share (Current price trades at an ~83% premium)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Pro-Forma Hyper-Growth Case (65.5% sustained): $613.71 / share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Reverse DCF Implied Growth: Market prices in ~47% constant growth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14632-9A63-CB92-8DDE-FAE55DE5FE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50762" y="2110831"/>
            <a:ext cx="3932915" cy="4220957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Conditional Action Triggers: </a:t>
            </a:r>
          </a:p>
          <a:p>
            <a:r>
              <a:rPr lang="en-US" sz="1800" dirty="0"/>
              <a:t>Initiate Buy: If market price pulls back to ≤$119.17, OR if quarterly filings prove </a:t>
            </a:r>
            <a:r>
              <a:rPr lang="en-US" sz="1800" dirty="0" err="1"/>
              <a:t>hyperscaler</a:t>
            </a:r>
            <a:r>
              <a:rPr lang="en-US" sz="1800" dirty="0"/>
              <a:t> </a:t>
            </a:r>
            <a:r>
              <a:rPr lang="en-US" sz="1800" dirty="0" err="1"/>
              <a:t>CapEx</a:t>
            </a:r>
            <a:r>
              <a:rPr lang="en-US" sz="1800" dirty="0"/>
              <a:t> acceleration that justifies maintaining &gt;50% growth beyond FY2027</a:t>
            </a:r>
          </a:p>
          <a:p>
            <a:r>
              <a:rPr lang="en-US" sz="1800" dirty="0"/>
              <a:t>Stay on Watch: Price remains between $120 and $220.</a:t>
            </a:r>
          </a:p>
          <a:p>
            <a:endParaRPr lang="en-US" sz="1800" dirty="0"/>
          </a:p>
        </p:txBody>
      </p:sp>
      <p:pic>
        <p:nvPicPr>
          <p:cNvPr id="6" name="Graphic 5" descr="Clipboard with solid fill">
            <a:extLst>
              <a:ext uri="{FF2B5EF4-FFF2-40B4-BE49-F238E27FC236}">
                <a16:creationId xmlns:a16="http://schemas.microsoft.com/office/drawing/2014/main" id="{9BBEAE35-D05C-15BA-F69C-167C497C6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57005" y="26152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51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9592-D730-2F21-03A6-9C864D57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58996D-CA5E-580F-62C5-B43229DE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4944"/>
            <a:ext cx="4343240" cy="2763442"/>
          </a:xfrm>
        </p:spPr>
        <p:txBody>
          <a:bodyPr/>
          <a:lstStyle/>
          <a:p>
            <a:r>
              <a:rPr lang="en-US" dirty="0"/>
              <a:t>The Core Engine: Compute &amp; Networking Dominance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8DD65BE-B6DB-D430-4E85-8CDEE1983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2450235"/>
              </p:ext>
            </p:extLst>
          </p:nvPr>
        </p:nvGraphicFramePr>
        <p:xfrm>
          <a:off x="5408043" y="694944"/>
          <a:ext cx="5753099" cy="5481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437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F10C-5741-757E-9B39-0E316E2D5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5-Year 3-Statement Forecast: Causal Transmission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0AB63-59BB-C837-1BCC-5B77084444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53101" y="3657818"/>
            <a:ext cx="5835050" cy="27340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Key 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Operating Leverage: SG&amp;A is tiny (~3.0% of gross profit), so top-line expansion drops almost dollar-for-dollar into operating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Capital-Light Conversion: Low </a:t>
            </a:r>
            <a:r>
              <a:rPr lang="en-US" dirty="0" err="1"/>
              <a:t>CapEx</a:t>
            </a:r>
            <a:r>
              <a:rPr lang="en-US" dirty="0"/>
              <a:t> relative to cash flow ($6.0B vs $100B+ OCF) means net income converts rapidly into FCFE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Terminal Value Dominance: Capitalized Year 5 FCFE discounted at 10% WACC / 2.5% terminal growth accounts for 84.1% of total equity value</a:t>
            </a:r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6F4E77-7612-E28D-7C2D-797ABA33EED1}"/>
              </a:ext>
            </a:extLst>
          </p:cNvPr>
          <p:cNvSpPr/>
          <p:nvPr/>
        </p:nvSpPr>
        <p:spPr>
          <a:xfrm>
            <a:off x="5428892" y="626853"/>
            <a:ext cx="1575758" cy="1052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Revenue Growth (65.5%)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80C2A3-F62E-9F00-8942-EE2A1EFAD32E}"/>
              </a:ext>
            </a:extLst>
          </p:cNvPr>
          <p:cNvSpPr/>
          <p:nvPr/>
        </p:nvSpPr>
        <p:spPr>
          <a:xfrm>
            <a:off x="7228937" y="626853"/>
            <a:ext cx="1575758" cy="1052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Gross Profit </a:t>
            </a:r>
          </a:p>
          <a:p>
            <a:pPr algn="ctr"/>
            <a:r>
              <a:rPr lang="en-US" sz="1400" dirty="0"/>
              <a:t>(71.1%)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7732F8-DCB8-FDB6-B322-EEAC42F6A7AA}"/>
              </a:ext>
            </a:extLst>
          </p:cNvPr>
          <p:cNvSpPr/>
          <p:nvPr/>
        </p:nvSpPr>
        <p:spPr>
          <a:xfrm>
            <a:off x="9028983" y="632604"/>
            <a:ext cx="1575758" cy="1052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Operating </a:t>
            </a:r>
          </a:p>
          <a:p>
            <a:pPr algn="ctr"/>
            <a:r>
              <a:rPr lang="en-US" sz="1400" dirty="0"/>
              <a:t>Leverage </a:t>
            </a:r>
          </a:p>
          <a:p>
            <a:pPr algn="ctr"/>
            <a:r>
              <a:rPr lang="en-US" sz="1400" dirty="0"/>
              <a:t>(SG&amp;A @ 3%)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91880B-4134-6FFE-584D-08F3982A7F77}"/>
              </a:ext>
            </a:extLst>
          </p:cNvPr>
          <p:cNvSpPr/>
          <p:nvPr/>
        </p:nvSpPr>
        <p:spPr>
          <a:xfrm>
            <a:off x="9028983" y="2222740"/>
            <a:ext cx="1575758" cy="1052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FCFE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FEE425-6162-7403-D065-55FA6FF69EA3}"/>
              </a:ext>
            </a:extLst>
          </p:cNvPr>
          <p:cNvSpPr/>
          <p:nvPr/>
        </p:nvSpPr>
        <p:spPr>
          <a:xfrm>
            <a:off x="7228937" y="2222740"/>
            <a:ext cx="1575758" cy="1052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Terminal Value</a:t>
            </a:r>
          </a:p>
          <a:p>
            <a:pPr algn="ctr"/>
            <a:r>
              <a:rPr lang="en-US" sz="1400" dirty="0"/>
              <a:t>(84%)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C3B3B4-C43D-C834-25F3-993429DFC5FE}"/>
              </a:ext>
            </a:extLst>
          </p:cNvPr>
          <p:cNvSpPr/>
          <p:nvPr/>
        </p:nvSpPr>
        <p:spPr>
          <a:xfrm>
            <a:off x="5434643" y="2222740"/>
            <a:ext cx="1575758" cy="1052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Value/Share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8C1A52D-C48D-7F02-8D6B-00C269B67887}"/>
              </a:ext>
            </a:extLst>
          </p:cNvPr>
          <p:cNvSpPr/>
          <p:nvPr/>
        </p:nvSpPr>
        <p:spPr>
          <a:xfrm>
            <a:off x="6912635" y="1108386"/>
            <a:ext cx="408317" cy="25016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1E9E340-7935-FF92-AFAE-CF1D0089458B}"/>
              </a:ext>
            </a:extLst>
          </p:cNvPr>
          <p:cNvSpPr/>
          <p:nvPr/>
        </p:nvSpPr>
        <p:spPr>
          <a:xfrm>
            <a:off x="8712682" y="1125639"/>
            <a:ext cx="408317" cy="25016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Left 42">
            <a:extLst>
              <a:ext uri="{FF2B5EF4-FFF2-40B4-BE49-F238E27FC236}">
                <a16:creationId xmlns:a16="http://schemas.microsoft.com/office/drawing/2014/main" id="{1BD1E216-317B-D913-23C7-7BE7EA2931A7}"/>
              </a:ext>
            </a:extLst>
          </p:cNvPr>
          <p:cNvSpPr/>
          <p:nvPr/>
        </p:nvSpPr>
        <p:spPr>
          <a:xfrm>
            <a:off x="8712681" y="2809444"/>
            <a:ext cx="408317" cy="250166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Left 44">
            <a:extLst>
              <a:ext uri="{FF2B5EF4-FFF2-40B4-BE49-F238E27FC236}">
                <a16:creationId xmlns:a16="http://schemas.microsoft.com/office/drawing/2014/main" id="{5A34586F-3279-0F73-C5CF-C0FDE968EB04}"/>
              </a:ext>
            </a:extLst>
          </p:cNvPr>
          <p:cNvSpPr/>
          <p:nvPr/>
        </p:nvSpPr>
        <p:spPr>
          <a:xfrm>
            <a:off x="6912634" y="2809444"/>
            <a:ext cx="408317" cy="250166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1B481E4D-BE54-128C-A893-2B4A243C4FE0}"/>
              </a:ext>
            </a:extLst>
          </p:cNvPr>
          <p:cNvSpPr/>
          <p:nvPr/>
        </p:nvSpPr>
        <p:spPr>
          <a:xfrm>
            <a:off x="9678839" y="1616015"/>
            <a:ext cx="276045" cy="75337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8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0B2A-0470-5C55-96AF-CF042652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798950-215E-00CB-64CA-C11DAF61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4945"/>
            <a:ext cx="10058400" cy="1280160"/>
          </a:xfrm>
        </p:spPr>
        <p:txBody>
          <a:bodyPr/>
          <a:lstStyle/>
          <a:p>
            <a:r>
              <a:rPr lang="en-US" dirty="0"/>
              <a:t>Operating-Driver Sensitivity: Proving the Ranking is Range-Conditional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254F4-F116-C30D-C85A-779D51F692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6741" y="2140864"/>
            <a:ext cx="3797114" cy="34947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Key Takeaway from Peer Review Feedback: </a:t>
            </a:r>
          </a:p>
          <a:p>
            <a:r>
              <a:rPr lang="en-US" sz="1400" dirty="0"/>
              <a:t>Revenue growth appears to dominate only because of 5-year compounding over an artificially wide ±1,000 bps range</a:t>
            </a:r>
          </a:p>
          <a:p>
            <a:r>
              <a:rPr lang="en-US" sz="1400" dirty="0"/>
              <a:t>When tested over a realistic, conservative ±200 bps range, revenue growth's value span ($70.24) is nearly identical to gross margin ($61.83)</a:t>
            </a:r>
          </a:p>
          <a:p>
            <a:pPr marL="0" indent="0">
              <a:buNone/>
            </a:pPr>
            <a:r>
              <a:rPr lang="en-US" sz="1400" dirty="0"/>
              <a:t>Conclusion: An ASIC pricing shock (e.g., Google TPU / AWS </a:t>
            </a:r>
            <a:r>
              <a:rPr lang="en-US" sz="1400" dirty="0" err="1"/>
              <a:t>Trainium</a:t>
            </a:r>
            <a:r>
              <a:rPr lang="en-US" sz="1400" dirty="0"/>
              <a:t> taking off) could compress margins and easily become the primary driver of equity value</a:t>
            </a:r>
          </a:p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B7EEE58C-D089-900D-C689-CE73C6BE03F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995033271"/>
              </p:ext>
            </p:extLst>
          </p:nvPr>
        </p:nvGraphicFramePr>
        <p:xfrm>
          <a:off x="5054600" y="2103438"/>
          <a:ext cx="6451600" cy="367321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08509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517291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9300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Driver Tested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Tested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 / Share Span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Dominance 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648551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Revenue Growth (Wide)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±1,000 bps (55.5% - 75.7%)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$353.47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Tier 1 (Wide artifact)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648551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Revenue Growth (Conservative)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±200 bps (63.5% - 67.5%)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Comparable 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648551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Gross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±300 bps (68.1% - 74.1%)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$61.83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Comparable 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49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9219-6ACF-523C-B9A2-77A4CFEE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 Multiples &amp; Ongoing Monitoring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9C4F-ED8A-2B2B-5395-C578A90D15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6741" y="2140864"/>
            <a:ext cx="4673138" cy="4022191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b="1" dirty="0"/>
              <a:t>Comparable Company Analysis (P/E Multiples):</a:t>
            </a:r>
            <a:r>
              <a:rPr lang="en-US" dirty="0"/>
              <a:t> </a:t>
            </a:r>
          </a:p>
          <a:p>
            <a:r>
              <a:rPr lang="en-US" dirty="0"/>
              <a:t>NVIDIA Current P/E: </a:t>
            </a:r>
            <a:r>
              <a:rPr lang="en-US" b="1" dirty="0"/>
              <a:t>44.8x</a:t>
            </a:r>
            <a:endParaRPr lang="en-US" dirty="0"/>
          </a:p>
          <a:p>
            <a:r>
              <a:rPr lang="en-US" dirty="0"/>
              <a:t>Peer Median P/E: </a:t>
            </a:r>
            <a:r>
              <a:rPr lang="en-US" b="1" dirty="0"/>
              <a:t>139.8x</a:t>
            </a:r>
            <a:r>
              <a:rPr lang="en-US" dirty="0"/>
              <a:t> (AMD at 206.5x, Broadcom at 73.1x)</a:t>
            </a:r>
          </a:p>
          <a:p>
            <a:r>
              <a:rPr lang="en-US" dirty="0"/>
              <a:t>Implied Peer Valuation: </a:t>
            </a:r>
            <a:r>
              <a:rPr lang="en-US" b="1" dirty="0"/>
              <a:t>$685.14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Critique:</a:t>
            </a:r>
            <a:r>
              <a:rPr lang="en-US" dirty="0"/>
              <a:t> High peer multiples reflect AMD's depressed earnings and Broadcom's acquisition debt; we rely on fundamental cash flows, not inflated relative multiples.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BE550-B218-2712-D460-6B92A710024A}"/>
              </a:ext>
            </a:extLst>
          </p:cNvPr>
          <p:cNvSpPr/>
          <p:nvPr/>
        </p:nvSpPr>
        <p:spPr>
          <a:xfrm>
            <a:off x="5871713" y="1897810"/>
            <a:ext cx="5273615" cy="4022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87144-2536-0889-A5D2-90CD6D902B52}"/>
              </a:ext>
            </a:extLst>
          </p:cNvPr>
          <p:cNvSpPr txBox="1"/>
          <p:nvPr/>
        </p:nvSpPr>
        <p:spPr>
          <a:xfrm>
            <a:off x="5923472" y="1975105"/>
            <a:ext cx="5141343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What Would Change Our Mind? (Monitoring Triggers):</a:t>
            </a:r>
          </a:p>
          <a:p>
            <a:pPr lvl="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Next Quarter Form 10-Q:</a:t>
            </a:r>
            <a:r>
              <a:rPr lang="en-US" dirty="0"/>
              <a:t> Monitor Compute &amp; Networking segment gross margins for signs of TSMC packaging bottlenecks or ASIC price pressure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err="1"/>
              <a:t>Hyperscaler</a:t>
            </a:r>
            <a:r>
              <a:rPr lang="en-US" b="1" dirty="0"/>
              <a:t> </a:t>
            </a:r>
            <a:r>
              <a:rPr lang="en-US" b="1" dirty="0" err="1"/>
              <a:t>CapEx</a:t>
            </a:r>
            <a:r>
              <a:rPr lang="en-US" b="1" dirty="0"/>
              <a:t> Tracking:</a:t>
            </a:r>
            <a:r>
              <a:rPr lang="en-US" dirty="0"/>
              <a:t> Track quarterly earnings releases of Microsoft, Google, Meta, and Amazon; if cloud </a:t>
            </a:r>
            <a:r>
              <a:rPr lang="en-US" dirty="0" err="1"/>
              <a:t>CapEx</a:t>
            </a:r>
            <a:r>
              <a:rPr lang="en-US" dirty="0"/>
              <a:t> deceleration is confirmed, initiate hedging or lower entry targets</a:t>
            </a:r>
          </a:p>
          <a:p>
            <a:endParaRPr lang="en-US" dirty="0"/>
          </a:p>
        </p:txBody>
      </p:sp>
      <p:pic>
        <p:nvPicPr>
          <p:cNvPr id="8" name="Graphic 7" descr="Thought bubble with solid fill">
            <a:extLst>
              <a:ext uri="{FF2B5EF4-FFF2-40B4-BE49-F238E27FC236}">
                <a16:creationId xmlns:a16="http://schemas.microsoft.com/office/drawing/2014/main" id="{044C35BB-6E48-9042-8EDF-61BF1CFDA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4008" y="1600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348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89119559_Win32_SL_v9" id="{F0446A71-0E2F-4374-B5F7-68CC97B41AC5}" vid="{5F7109B1-5E17-45DE-A450-61A147814B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E9A08A-3D48-4730-8B6D-01A15F4E9B0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60367E2-A4EF-4F83-9408-21F92ABD69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0F62E9-537D-4B86-A5A3-DCAED002D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Vert diagram presentation</Template>
  <TotalTime>29</TotalTime>
  <Words>651</Words>
  <Application>Microsoft Office PowerPoint</Application>
  <PresentationFormat>Widescreen</PresentationFormat>
  <Paragraphs>72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Trebuchet MS</vt:lpstr>
      <vt:lpstr>Wingdings 3</vt:lpstr>
      <vt:lpstr>Facet</vt:lpstr>
      <vt:lpstr>Nvidia Executive Summary</vt:lpstr>
      <vt:lpstr>Investment Committee Pitch: NVIDIA Corporation (NVDA)</vt:lpstr>
      <vt:lpstr>The Core Engine: Compute &amp; Networking Dominance</vt:lpstr>
      <vt:lpstr>5-Year 3-Statement Forecast: Causal Transmission</vt:lpstr>
      <vt:lpstr>Operating-Driver Sensitivity: Proving the Ranking is Range-Conditional</vt:lpstr>
      <vt:lpstr>Peer Multiples &amp; Ongoing Monitoring Triggers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Li Alderink</dc:creator>
  <cp:lastModifiedBy>Alexandra Li Alderink</cp:lastModifiedBy>
  <cp:revision>1</cp:revision>
  <dcterms:created xsi:type="dcterms:W3CDTF">2026-10-18T01:35:39Z</dcterms:created>
  <dcterms:modified xsi:type="dcterms:W3CDTF">2026-10-18T02:04:48Z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